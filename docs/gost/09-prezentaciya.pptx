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lvl1pPr>
      <a:defRPr sz="2400">
        <a:latin typeface="Arial"/>
      </a:defRPr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Заголовок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Заголовок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 b="1">
          <a:solidFill>
            <a:srgbClr val="1F3A5F"/>
          </a:solidFill>
          <a:latin typeface="Arial"/>
        </a:defRPr>
      </a:lvl1pPr>
    </p:titleStyle>
    <p:bodyStyle>
      <a:lvl1pPr>
        <a:defRPr sz="2800">
          <a:latin typeface="Arial"/>
        </a:defRPr>
      </a:lvl1pPr>
    </p:bodyStyle>
    <p:otherStyle>
      <a:lvl1pPr>
        <a:defRPr sz="2400">
          <a:latin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пись"/>
          <p:cNvSpPr txBox="1"/>
          <p:nvPr/>
        </p:nvSpPr>
        <p:spPr>
          <a:xfrm>
            <a:off x="640080" y="9144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0" dirty="0">
                <a:solidFill>
                  <a:srgbClr val="595959"/>
                </a:solidFill>
                <a:latin typeface="Arial"/>
                <a:cs typeface="Arial"/>
              </a:rPr>
              <a:t>Проект</a:t>
            </a:r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81360" cy="109728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0" dirty="0">
                <a:solidFill>
                  <a:srgbClr val="1F3A5F"/>
                </a:solidFill>
                <a:latin typeface="Arial"/>
                <a:cs typeface="Arial"/>
              </a:rPr>
              <a:t>Детективная доска</a:t>
            </a:r>
          </a:p>
        </p:txBody>
      </p:sp>
      <p:sp>
        <p:nvSpPr>
          <p:cNvPr id="4" name="Название латиницей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Detective Board</a:t>
            </a:r>
          </a:p>
        </p:txBody>
      </p:sp>
      <p:sp>
        <p:nvSpPr>
          <p:cNvPr id="5" name="Тема"/>
          <p:cNvSpPr txBox="1"/>
          <p:nvPr/>
        </p:nvSpPr>
        <p:spPr>
          <a:xfrm>
            <a:off x="640080" y="31089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Локальный офлайн-следователь по 20 рассказам о Шерлоке Холмсе</a:t>
            </a:r>
          </a:p>
        </p:txBody>
      </p:sp>
      <p:sp>
        <p:nvSpPr>
          <p:cNvPr id="6" name="Авторы"/>
          <p:cNvSpPr txBox="1"/>
          <p:nvPr/>
        </p:nvSpPr>
        <p:spPr>
          <a:xfrm>
            <a:off x="640080" y="4206240"/>
            <a:ext cx="731520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2000" b="1" i="0" dirty="0">
                <a:solidFill>
                  <a:srgbClr val="595959"/>
                </a:solidFill>
                <a:latin typeface="Arial"/>
                <a:cs typeface="Arial"/>
              </a:rPr>
              <a:t>Авторы: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Верховых Егор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Стрижевский Андрей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Парамонов Даниил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Приц Артём</a:t>
            </a:r>
          </a:p>
        </p:txBody>
      </p:sp>
      <p:sp>
        <p:nvSpPr>
          <p:cNvPr id="7" name="Дата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rgbClr val="595959"/>
                </a:solidFill>
                <a:latin typeface="Arial"/>
                <a:cs typeface="Arial"/>
              </a:rPr>
              <a:t>30.10.2026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Цель и задачи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Цель: отвечать по тексту рассказов и показывать, на чём держится ответ.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1. Достать из текста факты вместе с дословными цитатами.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2. Проверить факты правилами, а не мнением модели.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3. Честно отказываться, если в тексте ответа нет.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4. Измерить качество и записать слабые места.</a:t>
            </a:r>
          </a:p>
        </p:txBody>
      </p:sp>
      <p:sp>
        <p:nvSpPr>
          <p:cNvPr id="4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Зачем это нужно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Обычная языковая модель отвечает уверенно, даже когда не знает.</a:t>
            </a:r>
          </a:p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Она выдумывает факты и цитаты.</a:t>
            </a:r>
          </a:p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Без поиска по тексту верный ответ только на 3 из 30 вопросов (test, n=30).</a:t>
            </a:r>
          </a:p>
        </p:txBody>
      </p:sp>
      <p:sp>
        <p:nvSpPr>
          <p:cNvPr id="4" name="Блок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1F3A5F"/>
                </a:solidFill>
                <a:latin typeface="Arial"/>
                <a:cs typeface="Arial"/>
              </a:rPr>
              <a:t>Наш ответ: цитата из текста или отказ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Как устроено</a:t>
            </a:r>
          </a:p>
        </p:txBody>
      </p:sp>
      <p:sp>
        <p:nvSpPr>
          <p:cNvPr id="3" name="Этап 1"/>
          <p:cNvSpPr/>
          <p:nvPr/>
        </p:nvSpPr>
        <p:spPr>
          <a:xfrm>
            <a:off x="640080" y="2377440"/>
            <a:ext cx="155448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20 рассказов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596 фрагментов</a:t>
            </a:r>
          </a:p>
        </p:txBody>
      </p:sp>
      <p:cxnSp>
        <p:nvCxnSpPr>
          <p:cNvPr id="4" name="Стрелка"/>
          <p:cNvCxnSpPr/>
          <p:nvPr/>
        </p:nvCxnSpPr>
        <p:spPr>
          <a:xfrm>
            <a:off x="2194560" y="3246120"/>
            <a:ext cx="310896" cy="0"/>
          </a:xfrm>
          <a:prstGeom prst="line">
            <a:avLst/>
          </a:prstGeom>
          <a:ln w="28575">
            <a:solidFill>
              <a:srgbClr val="1F3A5F"/>
            </a:solidFill>
            <a:tailEnd type="triangle"/>
          </a:ln>
        </p:spPr>
      </p:cxnSp>
      <p:sp>
        <p:nvSpPr>
          <p:cNvPr id="5" name="Этап 2"/>
          <p:cNvSpPr/>
          <p:nvPr/>
        </p:nvSpPr>
        <p:spPr>
          <a:xfrm>
            <a:off x="2505456" y="2377440"/>
            <a:ext cx="155448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Модель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извлекает факты</a:t>
            </a:r>
          </a:p>
        </p:txBody>
      </p:sp>
      <p:cxnSp>
        <p:nvCxnSpPr>
          <p:cNvPr id="6" name="Стрелка"/>
          <p:cNvCxnSpPr/>
          <p:nvPr/>
        </p:nvCxnSpPr>
        <p:spPr>
          <a:xfrm>
            <a:off x="4059936" y="3246120"/>
            <a:ext cx="310895" cy="0"/>
          </a:xfrm>
          <a:prstGeom prst="line">
            <a:avLst/>
          </a:prstGeom>
          <a:ln w="28575">
            <a:solidFill>
              <a:srgbClr val="1F3A5F"/>
            </a:solidFill>
            <a:tailEnd type="triangle"/>
          </a:ln>
        </p:spPr>
      </p:cxnSp>
      <p:sp>
        <p:nvSpPr>
          <p:cNvPr id="7" name="Этап 3"/>
          <p:cNvSpPr/>
          <p:nvPr/>
        </p:nvSpPr>
        <p:spPr>
          <a:xfrm>
            <a:off x="4370832" y="2377440"/>
            <a:ext cx="155448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Граф фактов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с цитатами</a:t>
            </a:r>
          </a:p>
        </p:txBody>
      </p:sp>
      <p:cxnSp>
        <p:nvCxnSpPr>
          <p:cNvPr id="8" name="Стрелка"/>
          <p:cNvCxnSpPr/>
          <p:nvPr/>
        </p:nvCxnSpPr>
        <p:spPr>
          <a:xfrm>
            <a:off x="5925312" y="3246120"/>
            <a:ext cx="310895" cy="0"/>
          </a:xfrm>
          <a:prstGeom prst="line">
            <a:avLst/>
          </a:prstGeom>
          <a:ln w="28575">
            <a:solidFill>
              <a:srgbClr val="1F3A5F"/>
            </a:solidFill>
            <a:tailEnd type="triangle"/>
          </a:ln>
        </p:spPr>
      </p:cxnSp>
      <p:sp>
        <p:nvSpPr>
          <p:cNvPr id="9" name="Этап 4"/>
          <p:cNvSpPr/>
          <p:nvPr/>
        </p:nvSpPr>
        <p:spPr>
          <a:xfrm>
            <a:off x="6236208" y="2377440"/>
            <a:ext cx="1554480" cy="1737360"/>
          </a:xfrm>
          <a:prstGeom prst="roundRect">
            <a:avLst>
              <a:gd name="adj" fmla="val 8000"/>
            </a:avLst>
          </a:prstGeom>
          <a:solidFill>
            <a:srgbClr val="DDE5F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Правила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R1, R2, R3</a:t>
            </a:r>
          </a:p>
        </p:txBody>
      </p:sp>
      <p:cxnSp>
        <p:nvCxnSpPr>
          <p:cNvPr id="10" name="Стрелка"/>
          <p:cNvCxnSpPr/>
          <p:nvPr/>
        </p:nvCxnSpPr>
        <p:spPr>
          <a:xfrm>
            <a:off x="7790688" y="3246120"/>
            <a:ext cx="310895" cy="0"/>
          </a:xfrm>
          <a:prstGeom prst="line">
            <a:avLst/>
          </a:prstGeom>
          <a:ln w="28575">
            <a:solidFill>
              <a:srgbClr val="1F3A5F"/>
            </a:solidFill>
            <a:tailEnd type="triangle"/>
          </a:ln>
        </p:spPr>
      </p:cxnSp>
      <p:sp>
        <p:nvSpPr>
          <p:cNvPr id="11" name="Этап 5"/>
          <p:cNvSpPr/>
          <p:nvPr/>
        </p:nvSpPr>
        <p:spPr>
          <a:xfrm>
            <a:off x="8101583" y="2377440"/>
            <a:ext cx="155448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Агент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ответ или отказ</a:t>
            </a:r>
          </a:p>
        </p:txBody>
      </p:sp>
      <p:cxnSp>
        <p:nvCxnSpPr>
          <p:cNvPr id="12" name="Стрелка"/>
          <p:cNvCxnSpPr/>
          <p:nvPr/>
        </p:nvCxnSpPr>
        <p:spPr>
          <a:xfrm>
            <a:off x="9656063" y="3246120"/>
            <a:ext cx="310895" cy="0"/>
          </a:xfrm>
          <a:prstGeom prst="line">
            <a:avLst/>
          </a:prstGeom>
          <a:ln w="28575">
            <a:solidFill>
              <a:srgbClr val="1F3A5F"/>
            </a:solidFill>
            <a:tailEnd type="triangle"/>
          </a:ln>
        </p:spPr>
      </p:cxnSp>
      <p:sp>
        <p:nvSpPr>
          <p:cNvPr id="13" name="Этап 6"/>
          <p:cNvSpPr/>
          <p:nvPr/>
        </p:nvSpPr>
        <p:spPr>
          <a:xfrm>
            <a:off x="9966959" y="2377440"/>
            <a:ext cx="1554480" cy="17373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Доска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111111"/>
                </a:solidFill>
                <a:latin typeface="Arial"/>
                <a:cs typeface="Arial"/>
              </a:rPr>
              <a:t>и трасса</a:t>
            </a:r>
          </a:p>
        </p:txBody>
      </p:sp>
      <p:sp>
        <p:nvSpPr>
          <p:cNvPr id="14" name="Подпись"/>
          <p:cNvSpPr txBox="1"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2600" b="1" i="0" dirty="0">
                <a:solidFill>
                  <a:srgbClr val="1F3A5F"/>
                </a:solidFill>
                <a:latin typeface="Arial"/>
                <a:cs typeface="Arial"/>
              </a:rPr>
              <a:t>Модель угадывает, правила проверяют.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Всё работает на одном ноутбуке без сети.</a:t>
            </a:r>
          </a:p>
        </p:txBody>
      </p:sp>
      <p:sp>
        <p:nvSpPr>
          <p:cNvPr id="15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Откуда взят каждый факт</a:t>
            </a:r>
          </a:p>
        </p:txBody>
      </p:sp>
      <p:sp>
        <p:nvSpPr>
          <p:cNvPr id="3" name="extracted"/>
          <p:cNvSpPr/>
          <p:nvPr/>
        </p:nvSpPr>
        <p:spPr>
          <a:xfrm>
            <a:off x="640080" y="201168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extracted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достала модель;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может ошибаться</a:t>
            </a:r>
          </a:p>
        </p:txBody>
      </p:sp>
      <p:sp>
        <p:nvSpPr>
          <p:cNvPr id="4" name="derived"/>
          <p:cNvSpPr/>
          <p:nvPr/>
        </p:nvSpPr>
        <p:spPr>
          <a:xfrm>
            <a:off x="4343400" y="201168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derived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вывело правило;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есть объяснение</a:t>
            </a:r>
          </a:p>
        </p:txBody>
      </p:sp>
      <p:sp>
        <p:nvSpPr>
          <p:cNvPr id="5" name="conditional"/>
          <p:cNvSpPr/>
          <p:nvPr/>
        </p:nvSpPr>
        <p:spPr>
          <a:xfrm>
            <a:off x="8046720" y="201168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conditional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правило на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сомнительном факте</a:t>
            </a:r>
          </a:p>
        </p:txBody>
      </p:sp>
      <p:sp>
        <p:nvSpPr>
          <p:cNvPr id="6" name="Подпись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dirty="0">
                <a:solidFill>
                  <a:srgbClr val="111111"/>
                </a:solidFill>
                <a:latin typeface="Arial"/>
                <a:cs typeface="Arial"/>
              </a:rPr>
              <a:t>В демо есть ещё curated: факты проверил человек.</a:t>
            </a:r>
          </a:p>
        </p:txBody>
      </p:sp>
      <p:sp>
        <p:nvSpPr>
          <p:cNvPr id="7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Три правила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R1. Человек не может быть в двух местах сразу.</a:t>
            </a:r>
          </a:p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R2. Порядок событий не замыкается в круг.</a:t>
            </a:r>
          </a:p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R3. Слова свидетеля не спорят с установленным фактом.</a:t>
            </a:r>
          </a:p>
          <a:p>
            <a:pPr algn="l" marL="0" indent="0">
              <a:spcBef>
                <a:spcPts val="0"/>
              </a:spcBef>
              <a:spcAft>
                <a:spcPts val="504"/>
              </a:spcAft>
              <a:buNone/>
            </a:pPr>
            <a:r>
              <a:rPr lang="ru-RU" sz="2800" b="0" i="0" dirty="0">
                <a:solidFill>
                  <a:srgbClr val="111111"/>
                </a:solidFill>
                <a:latin typeface="Arial"/>
                <a:cs typeface="Arial"/>
              </a:rPr>
              <a:t>Нет данных — ответ «неизвестно», а не «всё согласовано».</a:t>
            </a:r>
          </a:p>
        </p:txBody>
      </p:sp>
      <p:sp>
        <p:nvSpPr>
          <p:cNvPr id="4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Результат: вопросы с ответом или отказом</a:t>
            </a:r>
          </a:p>
        </p:txBody>
      </p:sp>
      <p:sp>
        <p:nvSpPr>
          <p:cNvPr id="3" name="Только модель"/>
          <p:cNvSpPr/>
          <p:nvPr/>
        </p:nvSpPr>
        <p:spPr>
          <a:xfrm>
            <a:off x="1097280" y="4304713"/>
            <a:ext cx="2377440" cy="633046"/>
          </a:xfrm>
          <a:prstGeom prst="roundRect">
            <a:avLst>
              <a:gd name="adj" fmla="val 8000"/>
            </a:avLst>
          </a:prstGeom>
          <a:solidFill>
            <a:srgbClr val="99999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11111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Значение Только модель"/>
          <p:cNvSpPr txBox="1"/>
          <p:nvPr/>
        </p:nvSpPr>
        <p:spPr>
          <a:xfrm>
            <a:off x="1097280" y="3801793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i="0" dirty="0">
                <a:solidFill>
                  <a:srgbClr val="111111"/>
                </a:solidFill>
                <a:latin typeface="Arial"/>
                <a:cs typeface="Arial"/>
              </a:rPr>
              <a:t>3 из 30</a:t>
            </a:r>
          </a:p>
        </p:txBody>
      </p:sp>
      <p:sp>
        <p:nvSpPr>
          <p:cNvPr id="5" name="Подпись Только модель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rgbClr val="111111"/>
                </a:solidFill>
                <a:latin typeface="Arial"/>
                <a:cs typeface="Arial"/>
              </a:rPr>
              <a:t>Только модель</a:t>
            </a:r>
          </a:p>
        </p:txBody>
      </p:sp>
      <p:sp>
        <p:nvSpPr>
          <p:cNvPr id="6" name="Только поиск"/>
          <p:cNvSpPr/>
          <p:nvPr/>
        </p:nvSpPr>
        <p:spPr>
          <a:xfrm>
            <a:off x="4480560" y="2616590"/>
            <a:ext cx="2377440" cy="2321169"/>
          </a:xfrm>
          <a:prstGeom prst="roundRect">
            <a:avLst>
              <a:gd name="adj" fmla="val 8000"/>
            </a:avLst>
          </a:prstGeom>
          <a:solidFill>
            <a:srgbClr val="999999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11111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7" name="Значение Только поиск"/>
          <p:cNvSpPr txBox="1"/>
          <p:nvPr/>
        </p:nvSpPr>
        <p:spPr>
          <a:xfrm>
            <a:off x="4480560" y="211367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i="0" dirty="0">
                <a:solidFill>
                  <a:srgbClr val="111111"/>
                </a:solidFill>
                <a:latin typeface="Arial"/>
                <a:cs typeface="Arial"/>
              </a:rPr>
              <a:t>11 из 30</a:t>
            </a:r>
          </a:p>
        </p:txBody>
      </p:sp>
      <p:sp>
        <p:nvSpPr>
          <p:cNvPr id="8" name="Подпись Только поиск"/>
          <p:cNvSpPr txBox="1"/>
          <p:nvPr/>
        </p:nvSpPr>
        <p:spPr>
          <a:xfrm>
            <a:off x="4297680" y="50292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rgbClr val="111111"/>
                </a:solidFill>
                <a:latin typeface="Arial"/>
                <a:cs typeface="Arial"/>
              </a:rPr>
              <a:t>Только поиск</a:t>
            </a:r>
          </a:p>
        </p:txBody>
      </p:sp>
      <p:sp>
        <p:nvSpPr>
          <p:cNvPr id="9" name="Агент"/>
          <p:cNvSpPr/>
          <p:nvPr/>
        </p:nvSpPr>
        <p:spPr>
          <a:xfrm>
            <a:off x="7863840" y="2194560"/>
            <a:ext cx="2377440" cy="2743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11111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0" name="Значение Агент"/>
          <p:cNvSpPr txBox="1"/>
          <p:nvPr/>
        </p:nvSpPr>
        <p:spPr>
          <a:xfrm>
            <a:off x="7863840" y="1691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i="0" dirty="0">
                <a:solidFill>
                  <a:srgbClr val="111111"/>
                </a:solidFill>
                <a:latin typeface="Arial"/>
                <a:cs typeface="Arial"/>
              </a:rPr>
              <a:t>13 из 30</a:t>
            </a:r>
          </a:p>
        </p:txBody>
      </p:sp>
      <p:sp>
        <p:nvSpPr>
          <p:cNvPr id="11" name="Подпись Агент"/>
          <p:cNvSpPr txBox="1"/>
          <p:nvPr/>
        </p:nvSpPr>
        <p:spPr>
          <a:xfrm>
            <a:off x="7680960" y="50292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rgbClr val="111111"/>
                </a:solidFill>
                <a:latin typeface="Arial"/>
                <a:cs typeface="Arial"/>
              </a:rPr>
              <a:t>Агент</a:t>
            </a:r>
          </a:p>
        </p:txBody>
      </p:sp>
      <p:sp>
        <p:nvSpPr>
          <p:cNvPr id="12" name="Примечание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595959"/>
                </a:solidFill>
                <a:latin typeface="Arial"/>
                <a:cs typeface="Arial"/>
              </a:rPr>
              <a:t>Тест на 30 вопросах; метки ответов написаны ИИ, человек не проверял.</a:t>
            </a:r>
          </a:p>
        </p:txBody>
      </p:sp>
      <p:sp>
        <p:nvSpPr>
          <p:cNvPr id="13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Что пока не работает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Правила на автоматическом графе: найдено 0 из 12 противоречий.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Извлечение «кто где был»: оставлено 16 и 7 фактов на 159 фрагментах.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Из них ни один не привязан ко дню рассказа.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Эталон для проверки — всего 4 строгих факта.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595959"/>
                </a:solidFill>
                <a:latin typeface="Arial"/>
                <a:cs typeface="Arial"/>
              </a:rPr>
              <a:t>Источник: отчёт о проходе присутствия (PR #29).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Скорость, интерфейс, тесты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Ответ на ноутбуке без GPU: медиана 28,4 с (замер не в чистом окне).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Доска, 14 карточек: сдвиг 2400 → 225 мс, масштаб 2100 → 315 мс.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Доска, 200 узлов: сдвиг 2060 → 384 мс, масштаб 13 900 → 2 780 мс.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Шум на масштабе большой; на ноутбуке не измерено.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Автотесты: 986 прошли за 9,6 с.</a:t>
            </a:r>
          </a:p>
        </p:txBody>
      </p:sp>
      <p:sp>
        <p:nvSpPr>
          <p:cNvPr id="4" name="Примечание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595959"/>
                </a:solidFill>
                <a:latin typeface="Arial"/>
                <a:cs typeface="Arial"/>
              </a:rPr>
              <a:t>PR #30: время растеризации, headless Chromium, скриптовые сдвиг и масштаб. В покое картинка прежняя (отличие 1,5 из 255).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Угадывание виновного: ненадёжно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Тест (8 рассказов, один прогон): ни один метод не лучше простых.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Dev (8): лучший из ~35 вариантов угадал 4 из 8 – цифра завышена.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6 новых рассказов: верно 2 из 6, как у «самого упоминаемого».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Интервал 0,10–0,70; один оправданный назван первым.</a:t>
            </a:r>
          </a:p>
          <a:p>
            <a:pPr algn="l" marL="0" indent="0">
              <a:spcBef>
                <a:spcPts val="0"/>
              </a:spcBef>
              <a:spcAft>
                <a:spcPts val="312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Не обвиняет невиновного – только ценой отказов.</a:t>
            </a:r>
          </a:p>
        </p:txBody>
      </p:sp>
      <p:sp>
        <p:nvSpPr>
          <p:cNvPr id="4" name="Оговорка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595959"/>
                </a:solidFill>
                <a:latin typeface="Arial"/>
                <a:cs typeface="Arial"/>
              </a:rPr>
              <a:t>Метки поставил ИИ, нужна проверка человеком. Ветка feat/suspects-matrix, в main её нет.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Выводы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Система отвечает цитатами и честно отказывается.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Агент немного лучше голой модели; от простого поиска значимо не отличается.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Правила точны, но автоматическому графу не хватает фактов.</a:t>
            </a:r>
          </a:p>
          <a:p>
            <a:pPr algn="l" marL="0" indent="0">
              <a:spcBef>
                <a:spcPts val="0"/>
              </a:spcBef>
              <a:spcAft>
                <a:spcPts val="468"/>
              </a:spcAft>
              <a:buNone/>
            </a:pPr>
            <a:r>
              <a:rPr lang="ru-RU" sz="2600" b="0" i="0" dirty="0">
                <a:solidFill>
                  <a:srgbClr val="111111"/>
                </a:solidFill>
                <a:latin typeface="Arial"/>
                <a:cs typeface="Arial"/>
              </a:rPr>
              <a:t>Дальше: проверка наборов человеком, установка на двух ноутбуках.</a:t>
            </a:r>
          </a:p>
        </p:txBody>
      </p:sp>
      <p:sp>
        <p:nvSpPr>
          <p:cNvPr id="4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914400"/>
          </a:xfrm>
        </p:spPr>
        <p:txBody>
          <a:bodyPr wrap="square" lIns="0" tIns="0" rIns="0" bIns="0" anchor="t">
            <a:norm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i="0" dirty="0">
                <a:solidFill>
                  <a:srgbClr val="1F3A5F"/>
                </a:solidFill>
                <a:latin typeface="Arial"/>
                <a:cs typeface="Arial"/>
              </a:rPr>
              <a:t>Источники</a:t>
            </a:r>
          </a:p>
        </p:txBody>
      </p:sp>
      <p:sp>
        <p:nvSpPr>
          <p:cNvPr id="3" name="Список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96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docs/spike/results/eval-2026-10-28-test-7b7b197-7857839ed9be-175321.md</a:t>
            </a:r>
          </a:p>
          <a:p>
            <a:pPr algn="l" marL="0" indent="0">
              <a:spcBef>
                <a:spcPts val="0"/>
              </a:spcBef>
              <a:spcAft>
                <a:spcPts val="396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docs/spike/results/presence-pass-server-20261029.md</a:t>
            </a:r>
          </a:p>
          <a:p>
            <a:pPr algn="l" marL="0" indent="0">
              <a:spcBef>
                <a:spcPts val="0"/>
              </a:spcBef>
              <a:spcAft>
                <a:spcPts val="396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docs/perf/laptop-20261029.md</a:t>
            </a:r>
          </a:p>
          <a:p>
            <a:pPr algn="l" marL="0" indent="0">
              <a:spcBef>
                <a:spcPts val="0"/>
              </a:spcBef>
              <a:spcAft>
                <a:spcPts val="396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suspects-20261030.md (ветка feat/suspects-matrix)</a:t>
            </a:r>
          </a:p>
          <a:p>
            <a:pPr algn="l" marL="0" indent="0">
              <a:spcBef>
                <a:spcPts val="0"/>
              </a:spcBef>
              <a:spcAft>
                <a:spcPts val="396"/>
              </a:spcAft>
              <a:buNone/>
            </a:pPr>
            <a:r>
              <a:rPr lang="ru-RU" sz="2200" b="0" i="0" dirty="0">
                <a:solidFill>
                  <a:srgbClr val="111111"/>
                </a:solidFill>
                <a:latin typeface="Arial"/>
                <a:cs typeface="Arial"/>
              </a:rPr>
              <a:t>PR #30 на GitHub: описание измерений</a:t>
            </a:r>
          </a:p>
        </p:txBody>
      </p:sp>
      <p:sp>
        <p:nvSpPr>
          <p:cNvPr id="4" name="Номер слайда"/>
          <p:cNvSpPr txBox="1"/>
          <p:nvPr/>
        </p:nvSpPr>
        <p:spPr>
          <a:xfrm>
            <a:off x="5394960" y="6355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fld id="{B6F15528-21DE-4FAA-801E-634DDDAF4B2B}" type="slidenum">
              <a:rPr lang="ru-RU" sz="1400" b="0" i="0" dirty="0">
                <a:solidFill>
                  <a:srgbClr val="595959"/>
                </a:solidFill>
                <a:latin typeface="Arial"/>
                <a:cs typeface="Arial"/>
              </a:rPr>
              <a:t>12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tective Board">
  <a:themeElements>
    <a:clrScheme name="DB">
      <a:dk1>
        <a:srgbClr val="111111"/>
      </a:dk1>
      <a:lt1>
        <a:srgbClr val="FFFFFF"/>
      </a:lt1>
      <a:dk2>
        <a:srgbClr val="1F3A5F"/>
      </a:dk2>
      <a:lt2>
        <a:srgbClr val="EEF1F5"/>
      </a:lt2>
      <a:accent1>
        <a:srgbClr val="1F3A5F"/>
      </a:accent1>
      <a:accent2>
        <a:srgbClr val="595959"/>
      </a:accent2>
      <a:accent3>
        <a:srgbClr val="9B1C1C"/>
      </a:accent3>
      <a:accent4>
        <a:srgbClr val="2E7D32"/>
      </a:accent4>
      <a:accent5>
        <a:srgbClr val="7A5C00"/>
      </a:accent5>
      <a:accent6>
        <a:srgbClr val="555555"/>
      </a:accent6>
      <a:hlink>
        <a:srgbClr val="1F3A5F"/>
      </a:hlink>
      <a:folHlink>
        <a:srgbClr val="595959"/>
      </a:folHlink>
    </a:clrScheme>
    <a:fontScheme name="DB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Детективная доска (Detective Board)</dc:title>
  <dc:creator>Верховых Егор, Стрижевский Андрей, Парамонов Даниил, Приц Артём</dc:creator>
  <dc:language>ru-RU</dc:language>
  <dcterms:created xsi:type="dcterms:W3CDTF">2026-10-30T00:00:00Z</dcterms:created>
</cp:coreProperties>
</file>