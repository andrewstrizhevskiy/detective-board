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</p:sldIdLst>
  <p:sldSz cx="12192000" cy="6858000"/>
  <p:notesSz cx="6858000" cy="9144000"/>
  <p:defaultTextStyle>
    <a:lvl1pPr>
      <a:defRPr sz="1400">
        <a:latin typeface="Arial"/>
      </a:defRPr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Титульный слайд. Название проекта, подзаголовок и четыре автора. Справа фрагмент настоящей доски: карточки с фактами и цитатами, красные нити и тег противоречия. Проект работает локально и без сети: отвечает на вопросы по двадцати рассказам о Шерлоке Холмсе и показывает, на чём держится каждый ответ.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Цель проекта одной фразой и четыре задачи. Главное: каждый ответ должен опираться на цитату из рассказа, а если в тексте ответа нет, система отказывается.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Проблема обычной модели: она отвечает уверенно и выдумывает. На тесте из 30 вопросов без поиска по тексту она ответила верно только на 3. Метки ответов в тесте человек не проверял.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Конвейер слева направо: рассказы режутся на фрагменты, модель достаёт из них факты с цитатами, факты складываются в граф, правила проверяют их, агент отвечает цитатой или отказом, доска показывает путь ответа. Ответ опирается на проверку фактов правилами. Всё работает локально, без интернета.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Шуточный слайд-мостик. На кадре стена с бумагами и красными нитями, но нитям не на чем держаться: нигде не видно, откуда взят факт и можно ли ему верить. У нашей доски наоборот: каждая карточка хранит цитату из рассказа и метку происхождения, а связи проверяют правила.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Так выглядит интерфейс: доска-пробка с карточками. Каждая карточка хранит факт и цитату из рассказа, метка внизу говорит, откуда факт. Красные нити связывают карточки. Красный тег появляется, когда правило нашло противоречие: здесь правило R1 сравнило два события, где леди Брэкенсталл находится в один и тот же момент. Факты про стул и окно в демо введены вручную и перепроверены человеком 29.10.2026 (метка curated). Вывод всё равно помечен как conditional: время в этих фактах относительное и оценено с низкой уверенностью. Рисунок собран по настоящему интерфейсу.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Четыре метки. extracted: достала модель, может ошибаться. derived: вывело правило, есть объяснение. conditional: правило сработало на сомнительном факте. curated: факты в демо, введённые вручную и перепроверенные человеком 29.10.2026.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Правила работают без модели, это обычный код. R1: человек в двух местах в пересекающееся время. R2: порядок событий без цикла. R3: показание свидетеля против установленного факта. Если данных не хватает, правило отвечает «неизвестно».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Тест на 30 вопросах: только модель дала 3 верных ответа, только поиск 11, агент 13. Шкала у всех одна, от нуля до тридцати. Оговорка: метки ответов человек не проверял, разница между поиском и агентом статистически не значима.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Слабое место проекта. Правила точны, но на автоматическом графе им не хватает фактов: найдено 0 из 12 противоречий. Извлечение «кто где был» оставило 16 и 7 фактов на 159 фрагментах у двух моделей, и ни один не привязан ко дню рассказа. Эталон для проверки содержит всего четыре строгих факта, поэтому оценки неустойчивы. В демо красные конфликты держатся на фактах, введённых вручную и перепроверенных человеком.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Слева: сколько времени уходит на отрисовку доски до и после правки из PR 30. Сдвиг на доске из 200 узлов: 2060 против 384 миллисекунд, масштаб: 13 900 против 2 780. Это замер в headless Chromium, а не на целевом ноутбуке, шум на масштабе большой. Справа: 986 автотестов проходят за 9,6 секунды. Ответ на ноутбуке без видеокарты занимает в медиане 28,4 секунды.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Мы пробовали заставить систему угадывать виновного до развязки. Результат: ненадёжно. На тесте ни один метод не обыграл простые. На dev лучший из примерно тридцати пяти вариантов угадал 4 из 8, но на шести новых рассказах тот же метод угадал 2 из 6, как простой «самый упоминаемый». Интервал 0,10–0,70, то есть различить методы нельзя. Невиновных система не обвиняет, но для этого ей приходится часто отказываться отвечать. Метки виновного и точек обрыва не проверены человеком.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Четыре вывода. Сильная сторона: ответы с цитатами и отказ, когда ответа нет. Слабая: автоматический граф, где фактов для правил не хватает, и ненадёжное угадывание виновного. Дальше: человек проверяет эталонные наборы, система устанавливается и измеряется на двух ноутбуках.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Все цифры в презентации взяты из этих файлов репозитория и из описания PR 30. Файл suspects-20261030.md лежит в ветке feat/suspects-matrix, в основной ветке его пока нет.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Заголовок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Заголовок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600" b="1">
          <a:latin typeface="Georgia"/>
        </a:defRPr>
      </a:lvl1pPr>
    </p:titleStyle>
    <p:bodyStyle>
      <a:lvl1pPr>
        <a:defRPr sz="2000">
          <a:latin typeface="Arial"/>
        </a:defRPr>
      </a:lvl1pPr>
    </p:bodyStyle>
    <p:otherStyle>
      <a:lvl1pPr>
        <a:defRPr sz="1400">
          <a:latin typeface="Arial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M1" Type="http://schemas.openxmlformats.org/officeDocument/2006/relationships/image" Target="../media/nobasis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"/>
          <p:cNvSpPr txBox="1"/>
          <p:nvPr/>
        </p:nvSpPr>
        <p:spPr>
          <a:xfrm>
            <a:off x="812800" y="812800"/>
            <a:ext cx="635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spc="200" dirty="0">
                <a:solidFill>
                  <a:srgbClr val="E0584F"/>
                </a:solidFill>
                <a:latin typeface="Courier New"/>
                <a:cs typeface="Courier New"/>
              </a:rPr>
              <a:t>ПРОЕКТ · 2026</a:t>
            </a:r>
          </a:p>
        </p:txBody>
      </p:sp>
      <p:sp>
        <p:nvSpPr>
          <p:cNvPr id="3" name="Название"/>
          <p:cNvSpPr>
            <a:spLocks noGrp="1"/>
          </p:cNvSpPr>
          <p:nvPr>
            <p:ph type="title"/>
          </p:nvPr>
        </p:nvSpPr>
        <p:spPr>
          <a:xfrm>
            <a:off x="812800" y="1701800"/>
            <a:ext cx="6096000" cy="190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b="1" i="0" dirty="0">
                <a:solidFill>
                  <a:srgbClr val="EFE9DC"/>
                </a:solidFill>
                <a:latin typeface="Georgia"/>
                <a:cs typeface="Georgia"/>
              </a:rPr>
              <a:t>Детективная</a:t>
            </a:r>
          </a:p>
          <a:p>
            <a:pPr algn="l" marL="0" indent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b="1" i="0" dirty="0">
                <a:solidFill>
                  <a:srgbClr val="EFE9DC"/>
                </a:solidFill>
                <a:latin typeface="Georgia"/>
                <a:cs typeface="Georgia"/>
              </a:rPr>
              <a:t>доска</a:t>
            </a:r>
          </a:p>
        </p:txBody>
      </p:sp>
      <p:sp>
        <p:nvSpPr>
          <p:cNvPr id="4" name="Линия"/>
          <p:cNvSpPr/>
          <p:nvPr/>
        </p:nvSpPr>
        <p:spPr>
          <a:xfrm>
            <a:off x="812800" y="3746500"/>
            <a:ext cx="1524000" cy="381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5" name="Подзаголовок"/>
          <p:cNvSpPr txBox="1"/>
          <p:nvPr/>
        </p:nvSpPr>
        <p:spPr>
          <a:xfrm>
            <a:off x="812800" y="3987800"/>
            <a:ext cx="6096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dirty="0">
                <a:solidFill>
                  <a:srgbClr val="C9C1B0"/>
                </a:solidFill>
                <a:latin typeface="Arial"/>
                <a:cs typeface="Arial"/>
              </a:rPr>
              <a:t>Detective Board: локальный офлайн-следователь по 20 рассказам о Шерлоке Холмсе</a:t>
            </a:r>
          </a:p>
        </p:txBody>
      </p:sp>
      <p:sp>
        <p:nvSpPr>
          <p:cNvPr id="6" name="Авторы метка"/>
          <p:cNvSpPr txBox="1"/>
          <p:nvPr/>
        </p:nvSpPr>
        <p:spPr>
          <a:xfrm>
            <a:off x="812800" y="52705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spc="150" dirty="0">
                <a:solidFill>
                  <a:srgbClr val="A79F90"/>
                </a:solidFill>
                <a:latin typeface="Courier New"/>
                <a:cs typeface="Courier New"/>
              </a:rPr>
              <a:t>АВТОРЫ</a:t>
            </a:r>
          </a:p>
        </p:txBody>
      </p:sp>
      <p:sp>
        <p:nvSpPr>
          <p:cNvPr id="7" name="Авторы"/>
          <p:cNvSpPr txBox="1"/>
          <p:nvPr/>
        </p:nvSpPr>
        <p:spPr>
          <a:xfrm>
            <a:off x="812800" y="5549900"/>
            <a:ext cx="8255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EFE9DC"/>
                </a:solidFill>
                <a:latin typeface="Arial"/>
                <a:cs typeface="Arial"/>
              </a:rPr>
              <a:t>Верховых Егор · Стрижевский Андрей · Парамонов Даниил · Приц Артём</a:t>
            </a:r>
          </a:p>
        </p:txBody>
      </p:sp>
      <p:sp>
        <p:nvSpPr>
          <p:cNvPr id="8" name="Дата"/>
          <p:cNvSpPr txBox="1"/>
          <p:nvPr/>
        </p:nvSpPr>
        <p:spPr>
          <a:xfrm>
            <a:off x="9474200" y="55880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A79F90"/>
                </a:solidFill>
                <a:latin typeface="Courier New"/>
                <a:cs typeface="Courier New"/>
              </a:rPr>
              <a:t>30.10.2026</a:t>
            </a:r>
          </a:p>
        </p:txBody>
      </p:sp>
      <p:cxnSp>
        <p:nvCxnSpPr>
          <p:cNvPr id="9" name="Нить"/>
          <p:cNvCxnSpPr/>
          <p:nvPr/>
        </p:nvCxnSpPr>
        <p:spPr>
          <a:xfrm>
            <a:off x="9271000" y="1155700"/>
            <a:ext cx="444500" cy="1905000"/>
          </a:xfrm>
          <a:prstGeom prst="line">
            <a:avLst/>
          </a:prstGeom>
          <a:ln w="19050">
            <a:solidFill>
              <a:srgbClr val="E0584F"/>
            </a:solidFill>
          </a:ln>
        </p:spPr>
      </p:cxnSp>
      <p:cxnSp>
        <p:nvCxnSpPr>
          <p:cNvPr id="10" name="Нить"/>
          <p:cNvCxnSpPr/>
          <p:nvPr/>
        </p:nvCxnSpPr>
        <p:spPr>
          <a:xfrm flipH="1">
            <a:off x="8953500" y="3060700"/>
            <a:ext cx="762000" cy="1714500"/>
          </a:xfrm>
          <a:prstGeom prst="line">
            <a:avLst/>
          </a:prstGeom>
          <a:ln w="19050">
            <a:solidFill>
              <a:srgbClr val="E0584F"/>
            </a:solidFill>
          </a:ln>
        </p:spPr>
      </p:cxnSp>
      <p:sp>
        <p:nvSpPr>
          <p:cNvPr id="11" name="Карточка"/>
          <p:cNvSpPr/>
          <p:nvPr/>
        </p:nvSpPr>
        <p:spPr>
          <a:xfrm rot="-180000">
            <a:off x="7937500" y="1079500"/>
            <a:ext cx="2667000" cy="1200150"/>
          </a:xfrm>
          <a:prstGeom prst="roundRect">
            <a:avLst>
              <a:gd name="adj" fmla="val 4000"/>
            </a:avLst>
          </a:prstGeom>
          <a:solidFill>
            <a:srgbClr val="F6F1E4"/>
          </a:solidFill>
          <a:ln>
            <a:noFill/>
          </a:ln>
          <a:effectLst>
            <a:outerShdw blurRad="177800" dist="76200" dir="5400000" algn="t" rotWithShape="0">
              <a:srgbClr val="000000">
                <a:alpha val="45000"/>
              </a:srgbClr>
            </a:outerShdw>
          </a:effectLst>
        </p:spPr>
        <p:txBody>
          <a:bodyPr wrap="square" lIns="101600" tIns="101600" rIns="101600" bIns="10160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200" b="0" i="0" dirty="0">
                <a:solidFill>
                  <a:srgbClr val="B3261E"/>
                </a:solidFill>
                <a:latin typeface="Courier New"/>
                <a:cs typeface="Courier New"/>
              </a:rPr>
              <a:t>L. BRACKENSTALL · CLAIM</a:t>
            </a:r>
          </a:p>
          <a:p>
            <a:pPr algn="l" marL="0" indent="0">
              <a:lnSpc>
                <a:spcPct val="104166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500" b="0" i="1" dirty="0">
                <a:solidFill>
                  <a:srgbClr val="23201B"/>
                </a:solidFill>
                <a:latin typeface="Georgia"/>
                <a:cs typeface="Georgia"/>
              </a:rPr>
              <a:t>“Lady Brackenstall was at oaken chair”</a:t>
            </a:r>
          </a:p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~ extracted</a:t>
            </a:r>
          </a:p>
        </p:txBody>
      </p:sp>
      <p:sp>
        <p:nvSpPr>
          <p:cNvPr id="12" name="Карточка"/>
          <p:cNvSpPr/>
          <p:nvPr/>
        </p:nvSpPr>
        <p:spPr>
          <a:xfrm rot="120000">
            <a:off x="8445500" y="2984500"/>
            <a:ext cx="2540000" cy="1181100"/>
          </a:xfrm>
          <a:prstGeom prst="roundRect">
            <a:avLst>
              <a:gd name="adj" fmla="val 4000"/>
            </a:avLst>
          </a:prstGeom>
          <a:solidFill>
            <a:srgbClr val="F6F1E4"/>
          </a:solidFill>
          <a:ln>
            <a:noFill/>
          </a:ln>
          <a:effectLst>
            <a:outerShdw blurRad="177800" dist="76200" dir="5400000" algn="t" rotWithShape="0">
              <a:srgbClr val="000000">
                <a:alpha val="45000"/>
              </a:srgbClr>
            </a:outerShdw>
          </a:effectLst>
        </p:spPr>
        <p:txBody>
          <a:bodyPr wrap="square" lIns="101600" tIns="101600" rIns="101600" bIns="10160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EVENT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500" b="1" i="0" dirty="0">
                <a:solidFill>
                  <a:srgbClr val="23201B"/>
                </a:solidFill>
                <a:latin typeface="Georgia"/>
                <a:cs typeface="Georgia"/>
              </a:rPr>
              <a:t>Lady Brackenstall at window</a:t>
            </a:r>
          </a:p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~ curated</a:t>
            </a:r>
          </a:p>
        </p:txBody>
      </p:sp>
      <p:sp>
        <p:nvSpPr>
          <p:cNvPr id="13" name="Тег противоречия"/>
          <p:cNvSpPr/>
          <p:nvPr/>
        </p:nvSpPr>
        <p:spPr>
          <a:xfrm rot="-90000">
            <a:off x="7556500" y="4699000"/>
            <a:ext cx="2794000" cy="660400"/>
          </a:xfrm>
          <a:prstGeom prst="roundRect">
            <a:avLst>
              <a:gd name="adj" fmla="val 4000"/>
            </a:avLst>
          </a:prstGeom>
          <a:solidFill>
            <a:srgbClr val="B3261E"/>
          </a:solidFill>
          <a:ln w="12700">
            <a:solidFill>
              <a:srgbClr val="7A1812"/>
            </a:solidFill>
          </a:ln>
          <a:effectLst>
            <a:outerShdw blurRad="177800" dist="76200" dir="5400000" algn="t" rotWithShape="0">
              <a:srgbClr val="000000">
                <a:alpha val="45000"/>
              </a:srgbClr>
            </a:outerShdw>
          </a:effectLst>
        </p:spPr>
        <p:txBody>
          <a:bodyPr wrap="square" lIns="88900" tIns="88900" rIns="88900" bIns="889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400" b="0" i="0" dirty="0">
                <a:solidFill>
                  <a:srgbClr val="FFF6E6"/>
                </a:solidFill>
                <a:latin typeface="Courier New"/>
                <a:cs typeface="Courier New"/>
              </a:rPr>
              <a:t>! CONTRADICTION</a:t>
            </a:r>
          </a:p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FFF6E6"/>
                </a:solidFill>
                <a:latin typeface="Courier New"/>
                <a:cs typeface="Courier New"/>
              </a:rPr>
              <a:t>conditional · rule R1</a:t>
            </a:r>
          </a:p>
        </p:txBody>
      </p:sp>
      <p:sp>
        <p:nvSpPr>
          <p:cNvPr id="14" name="Кнопка-булавка"/>
          <p:cNvSpPr/>
          <p:nvPr/>
        </p:nvSpPr>
        <p:spPr>
          <a:xfrm>
            <a:off x="9201150" y="1085850"/>
            <a:ext cx="139700" cy="139700"/>
          </a:xfrm>
          <a:prstGeom prst="ellipse">
            <a:avLst/>
          </a:prstGeom>
          <a:solidFill>
            <a:srgbClr val="D94A4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5" name="Кнопка-булавка"/>
          <p:cNvSpPr/>
          <p:nvPr/>
        </p:nvSpPr>
        <p:spPr>
          <a:xfrm>
            <a:off x="9645650" y="2990850"/>
            <a:ext cx="139700" cy="139700"/>
          </a:xfrm>
          <a:prstGeom prst="ellipse">
            <a:avLst/>
          </a:prstGeom>
          <a:solidFill>
            <a:srgbClr val="D94A4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6" name="Кнопка-булавка"/>
          <p:cNvSpPr/>
          <p:nvPr/>
        </p:nvSpPr>
        <p:spPr>
          <a:xfrm>
            <a:off x="8883650" y="4705350"/>
            <a:ext cx="139700" cy="139700"/>
          </a:xfrm>
          <a:prstGeom prst="ellipse">
            <a:avLst/>
          </a:prstGeom>
          <a:solidFill>
            <a:srgbClr val="C9C1B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23201B"/>
                </a:solidFill>
                <a:latin typeface="Georgia"/>
                <a:cs typeface="Georgia"/>
              </a:rPr>
              <a:t>Цель и задачи</a:t>
            </a:r>
          </a:p>
        </p:txBody>
      </p:sp>
      <p:sp>
        <p:nvSpPr>
          <p:cNvPr id="3" name="Маркер"/>
          <p:cNvSpPr/>
          <p:nvPr/>
        </p:nvSpPr>
        <p:spPr>
          <a:xfrm>
            <a:off x="0" y="812800"/>
            <a:ext cx="88900" cy="508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4" name="Цель"/>
          <p:cNvSpPr txBox="1"/>
          <p:nvPr/>
        </p:nvSpPr>
        <p:spPr>
          <a:xfrm>
            <a:off x="812800" y="1568450"/>
            <a:ext cx="105664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23201B"/>
                </a:solidFill>
                <a:latin typeface="Arial"/>
                <a:cs typeface="Arial"/>
              </a:rPr>
              <a:t>Отвечать по тексту рассказов и показывать, </a:t>
            </a:r>
            <a:r>
              <a:rPr lang="ru-RU" sz="2200" b="0" i="0" dirty="0">
                <a:solidFill>
                  <a:srgbClr val="B3261E"/>
                </a:solidFill>
                <a:latin typeface="Arial"/>
                <a:cs typeface="Arial"/>
              </a:rPr>
              <a:t>на чём держится ответ</a:t>
            </a:r>
            <a:r>
              <a:rPr lang="ru-RU" sz="2200" b="0" i="0" dirty="0">
                <a:solidFill>
                  <a:srgbClr val="23201B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5" name="Задача 1"/>
          <p:cNvSpPr/>
          <p:nvPr/>
        </p:nvSpPr>
        <p:spPr>
          <a:xfrm>
            <a:off x="812800" y="2362200"/>
            <a:ext cx="5207000" cy="1219200"/>
          </a:xfrm>
          <a:prstGeom prst="roundRect">
            <a:avLst>
              <a:gd name="adj" fmla="val 3500"/>
            </a:avLst>
          </a:prstGeom>
          <a:solidFill>
            <a:srgbClr val="FBF8F0"/>
          </a:solidFill>
          <a:ln w="9525">
            <a:solidFill>
              <a:srgbClr val="D9D1BF"/>
            </a:solidFill>
          </a:ln>
        </p:spPr>
        <p:txBody>
          <a:bodyPr wrap="square" lIns="254000" tIns="203200" rIns="254000" bIns="2032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400" b="0" i="0" dirty="0">
                <a:solidFill>
                  <a:srgbClr val="B3261E"/>
                </a:solidFill>
                <a:latin typeface="Courier New"/>
                <a:cs typeface="Courier New"/>
              </a:rPr>
              <a:t>01</a:t>
            </a:r>
          </a:p>
          <a:p>
            <a:pPr algn="l" marL="0" indent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23201B"/>
                </a:solidFill>
                <a:latin typeface="Arial"/>
                <a:cs typeface="Arial"/>
              </a:rPr>
              <a:t>Достать из текста факты вместе с дословными цитатами.</a:t>
            </a:r>
          </a:p>
        </p:txBody>
      </p:sp>
      <p:sp>
        <p:nvSpPr>
          <p:cNvPr id="6" name="Задача 2"/>
          <p:cNvSpPr/>
          <p:nvPr/>
        </p:nvSpPr>
        <p:spPr>
          <a:xfrm>
            <a:off x="6172200" y="2362200"/>
            <a:ext cx="5207000" cy="1219200"/>
          </a:xfrm>
          <a:prstGeom prst="roundRect">
            <a:avLst>
              <a:gd name="adj" fmla="val 3500"/>
            </a:avLst>
          </a:prstGeom>
          <a:solidFill>
            <a:srgbClr val="FBF8F0"/>
          </a:solidFill>
          <a:ln w="9525">
            <a:solidFill>
              <a:srgbClr val="D9D1BF"/>
            </a:solidFill>
          </a:ln>
        </p:spPr>
        <p:txBody>
          <a:bodyPr wrap="square" lIns="254000" tIns="203200" rIns="254000" bIns="2032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400" b="0" i="0" dirty="0">
                <a:solidFill>
                  <a:srgbClr val="B3261E"/>
                </a:solidFill>
                <a:latin typeface="Courier New"/>
                <a:cs typeface="Courier New"/>
              </a:rPr>
              <a:t>02</a:t>
            </a:r>
          </a:p>
          <a:p>
            <a:pPr algn="l" marL="0" indent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23201B"/>
                </a:solidFill>
                <a:latin typeface="Arial"/>
                <a:cs typeface="Arial"/>
              </a:rPr>
              <a:t>Проверить факты правилами, а не мнением модели.</a:t>
            </a:r>
          </a:p>
        </p:txBody>
      </p:sp>
      <p:sp>
        <p:nvSpPr>
          <p:cNvPr id="7" name="Задача 3"/>
          <p:cNvSpPr/>
          <p:nvPr/>
        </p:nvSpPr>
        <p:spPr>
          <a:xfrm>
            <a:off x="812800" y="3733800"/>
            <a:ext cx="5207000" cy="1219200"/>
          </a:xfrm>
          <a:prstGeom prst="roundRect">
            <a:avLst>
              <a:gd name="adj" fmla="val 3500"/>
            </a:avLst>
          </a:prstGeom>
          <a:solidFill>
            <a:srgbClr val="FBF8F0"/>
          </a:solidFill>
          <a:ln w="9525">
            <a:solidFill>
              <a:srgbClr val="D9D1BF"/>
            </a:solidFill>
          </a:ln>
        </p:spPr>
        <p:txBody>
          <a:bodyPr wrap="square" lIns="254000" tIns="203200" rIns="254000" bIns="2032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400" b="0" i="0" dirty="0">
                <a:solidFill>
                  <a:srgbClr val="B3261E"/>
                </a:solidFill>
                <a:latin typeface="Courier New"/>
                <a:cs typeface="Courier New"/>
              </a:rPr>
              <a:t>03</a:t>
            </a:r>
          </a:p>
          <a:p>
            <a:pPr algn="l" marL="0" indent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23201B"/>
                </a:solidFill>
                <a:latin typeface="Arial"/>
                <a:cs typeface="Arial"/>
              </a:rPr>
              <a:t>Честно отказываться, если в тексте ответа нет.</a:t>
            </a:r>
          </a:p>
        </p:txBody>
      </p:sp>
      <p:sp>
        <p:nvSpPr>
          <p:cNvPr id="8" name="Задача 4"/>
          <p:cNvSpPr/>
          <p:nvPr/>
        </p:nvSpPr>
        <p:spPr>
          <a:xfrm>
            <a:off x="6172200" y="3733800"/>
            <a:ext cx="5207000" cy="1219200"/>
          </a:xfrm>
          <a:prstGeom prst="roundRect">
            <a:avLst>
              <a:gd name="adj" fmla="val 3500"/>
            </a:avLst>
          </a:prstGeom>
          <a:solidFill>
            <a:srgbClr val="FBF8F0"/>
          </a:solidFill>
          <a:ln w="9525">
            <a:solidFill>
              <a:srgbClr val="D9D1BF"/>
            </a:solidFill>
          </a:ln>
        </p:spPr>
        <p:txBody>
          <a:bodyPr wrap="square" lIns="254000" tIns="203200" rIns="254000" bIns="2032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400" b="0" i="0" dirty="0">
                <a:solidFill>
                  <a:srgbClr val="B3261E"/>
                </a:solidFill>
                <a:latin typeface="Courier New"/>
                <a:cs typeface="Courier New"/>
              </a:rPr>
              <a:t>04</a:t>
            </a:r>
          </a:p>
          <a:p>
            <a:pPr algn="l" marL="0" indent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23201B"/>
                </a:solidFill>
                <a:latin typeface="Arial"/>
                <a:cs typeface="Arial"/>
              </a:rPr>
              <a:t>Измерить качество и записать слабые места.</a:t>
            </a:r>
          </a:p>
        </p:txBody>
      </p:sp>
      <p:sp>
        <p:nvSpPr>
          <p:cNvPr id="9" name="Колонтитул"/>
          <p:cNvSpPr txBox="1"/>
          <p:nvPr/>
        </p:nvSpPr>
        <p:spPr>
          <a:xfrm>
            <a:off x="812800" y="62484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2 · Детективная доска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23201B"/>
                </a:solidFill>
                <a:latin typeface="Georgia"/>
                <a:cs typeface="Georgia"/>
              </a:rPr>
              <a:t>Зачем это нужно</a:t>
            </a:r>
          </a:p>
        </p:txBody>
      </p:sp>
      <p:sp>
        <p:nvSpPr>
          <p:cNvPr id="3" name="Маркер"/>
          <p:cNvSpPr/>
          <p:nvPr/>
        </p:nvSpPr>
        <p:spPr>
          <a:xfrm>
            <a:off x="0" y="812800"/>
            <a:ext cx="88900" cy="508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4" name="Проблема"/>
          <p:cNvSpPr txBox="1"/>
          <p:nvPr/>
        </p:nvSpPr>
        <p:spPr>
          <a:xfrm>
            <a:off x="812800" y="2070100"/>
            <a:ext cx="58928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200" b="0" i="0" dirty="0">
                <a:solidFill>
                  <a:srgbClr val="23201B"/>
                </a:solidFill>
                <a:latin typeface="Arial"/>
                <a:cs typeface="Arial"/>
              </a:rPr>
              <a:t>Обычная языковая модель отвечает уверенно, даже когда не знает.</a:t>
            </a:r>
          </a:p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23201B"/>
                </a:solidFill>
                <a:latin typeface="Arial"/>
                <a:cs typeface="Arial"/>
              </a:rPr>
              <a:t>Она выдумывает факты и цитаты.</a:t>
            </a:r>
          </a:p>
        </p:txBody>
      </p:sp>
      <p:sp>
        <p:nvSpPr>
          <p:cNvPr id="5" name="Число"/>
          <p:cNvSpPr/>
          <p:nvPr/>
        </p:nvSpPr>
        <p:spPr>
          <a:xfrm>
            <a:off x="7315200" y="1619250"/>
            <a:ext cx="4064000" cy="2197100"/>
          </a:xfrm>
          <a:prstGeom prst="roundRect">
            <a:avLst>
              <a:gd name="adj" fmla="val 3500"/>
            </a:avLst>
          </a:prstGeom>
          <a:solidFill>
            <a:srgbClr val="FBF8F0"/>
          </a:solidFill>
          <a:ln w="9525">
            <a:solidFill>
              <a:srgbClr val="D9D1BF"/>
            </a:solidFill>
          </a:ln>
        </p:spPr>
        <p:txBody>
          <a:bodyPr wrap="square" lIns="304800" tIns="254000" rIns="304800" bIns="254000" anchor="t">
            <a:noAutofit/>
          </a:bodyPr>
          <a:lstStyle/>
          <a:p>
            <a:pPr algn="l" marL="0" indent="0">
              <a:lnSpc>
                <a:spcPct val="83333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8000" b="1" i="0" dirty="0">
                <a:solidFill>
                  <a:srgbClr val="B3261E"/>
                </a:solidFill>
                <a:latin typeface="Georgia"/>
                <a:cs typeface="Georgia"/>
              </a:rPr>
              <a:t>3 из 30</a:t>
            </a:r>
          </a:p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6A6358"/>
                </a:solidFill>
                <a:latin typeface="Arial"/>
                <a:cs typeface="Arial"/>
              </a:rPr>
              <a:t>верных ответов у модели без поиска по тексту (тест, 30 вопросов)</a:t>
            </a:r>
          </a:p>
        </p:txBody>
      </p:sp>
      <p:sp>
        <p:nvSpPr>
          <p:cNvPr id="6" name="Наш ответ"/>
          <p:cNvSpPr txBox="1"/>
          <p:nvPr/>
        </p:nvSpPr>
        <p:spPr>
          <a:xfrm>
            <a:off x="812800" y="4121150"/>
            <a:ext cx="10566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dirty="0">
                <a:solidFill>
                  <a:srgbClr val="B3261E"/>
                </a:solidFill>
                <a:latin typeface="Arial"/>
                <a:cs typeface="Arial"/>
              </a:rPr>
              <a:t>Наш ответ: цитата из текста или отказ.</a:t>
            </a:r>
          </a:p>
        </p:txBody>
      </p:sp>
      <p:sp>
        <p:nvSpPr>
          <p:cNvPr id="7" name="Колонтитул"/>
          <p:cNvSpPr txBox="1"/>
          <p:nvPr/>
        </p:nvSpPr>
        <p:spPr>
          <a:xfrm>
            <a:off x="812800" y="62484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3 · Детективная доска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EFE9DC"/>
                </a:solidFill>
                <a:latin typeface="Georgia"/>
                <a:cs typeface="Georgia"/>
              </a:rPr>
              <a:t>Как устроено</a:t>
            </a:r>
          </a:p>
        </p:txBody>
      </p:sp>
      <p:sp>
        <p:nvSpPr>
          <p:cNvPr id="3" name="Маркер"/>
          <p:cNvSpPr/>
          <p:nvPr/>
        </p:nvSpPr>
        <p:spPr>
          <a:xfrm>
            <a:off x="0" y="812800"/>
            <a:ext cx="88900" cy="508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4" name="Этап 1"/>
          <p:cNvSpPr/>
          <p:nvPr/>
        </p:nvSpPr>
        <p:spPr>
          <a:xfrm>
            <a:off x="812800" y="2349500"/>
            <a:ext cx="1441450" cy="1778000"/>
          </a:xfrm>
          <a:prstGeom prst="roundRect">
            <a:avLst>
              <a:gd name="adj" fmla="val 3500"/>
            </a:avLst>
          </a:prstGeom>
          <a:solidFill>
            <a:srgbClr val="26231F"/>
          </a:solidFill>
          <a:ln w="9525">
            <a:solidFill>
              <a:srgbClr val="3A362F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5" name="Значок"/>
          <p:cNvSpPr/>
          <p:nvPr/>
        </p:nvSpPr>
        <p:spPr>
          <a:xfrm>
            <a:off x="939800" y="2552700"/>
            <a:ext cx="355600" cy="355600"/>
          </a:xfrm>
          <a:prstGeom prst="flowChartMultidocument">
            <a:avLst/>
          </a:prstGeom>
          <a:solidFill>
            <a:srgbClr val="E058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6" name="Этап 1 название"/>
          <p:cNvSpPr txBox="1"/>
          <p:nvPr/>
        </p:nvSpPr>
        <p:spPr>
          <a:xfrm>
            <a:off x="939800" y="3060700"/>
            <a:ext cx="118745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EFE9DC"/>
                </a:solidFill>
                <a:latin typeface="Arial"/>
                <a:cs typeface="Arial"/>
              </a:rPr>
              <a:t>20 рассказов</a:t>
            </a:r>
          </a:p>
        </p:txBody>
      </p:sp>
      <p:sp>
        <p:nvSpPr>
          <p:cNvPr id="7" name="Этап 1 подпись"/>
          <p:cNvSpPr txBox="1"/>
          <p:nvPr/>
        </p:nvSpPr>
        <p:spPr>
          <a:xfrm>
            <a:off x="939800" y="3594100"/>
            <a:ext cx="118745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A79F90"/>
                </a:solidFill>
                <a:latin typeface="Arial"/>
                <a:cs typeface="Arial"/>
              </a:rPr>
              <a:t>596 фрагментов</a:t>
            </a:r>
          </a:p>
        </p:txBody>
      </p:sp>
      <p:sp>
        <p:nvSpPr>
          <p:cNvPr id="8" name="Стрелка"/>
          <p:cNvSpPr/>
          <p:nvPr/>
        </p:nvSpPr>
        <p:spPr>
          <a:xfrm>
            <a:off x="2292350" y="3162300"/>
            <a:ext cx="304800" cy="304800"/>
          </a:xfrm>
          <a:prstGeom prst="rightArrow">
            <a:avLst/>
          </a:prstGeom>
          <a:solidFill>
            <a:srgbClr val="E058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9" name="Этап 2"/>
          <p:cNvSpPr/>
          <p:nvPr/>
        </p:nvSpPr>
        <p:spPr>
          <a:xfrm>
            <a:off x="2635250" y="2349500"/>
            <a:ext cx="1441450" cy="1778000"/>
          </a:xfrm>
          <a:prstGeom prst="roundRect">
            <a:avLst>
              <a:gd name="adj" fmla="val 3500"/>
            </a:avLst>
          </a:prstGeom>
          <a:solidFill>
            <a:srgbClr val="26231F"/>
          </a:solidFill>
          <a:ln w="9525">
            <a:solidFill>
              <a:srgbClr val="3A362F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0" name="Значок"/>
          <p:cNvSpPr/>
          <p:nvPr/>
        </p:nvSpPr>
        <p:spPr>
          <a:xfrm>
            <a:off x="2762250" y="2552700"/>
            <a:ext cx="355600" cy="355600"/>
          </a:xfrm>
          <a:prstGeom prst="sun">
            <a:avLst/>
          </a:prstGeom>
          <a:solidFill>
            <a:srgbClr val="E058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1" name="Этап 2 название"/>
          <p:cNvSpPr txBox="1"/>
          <p:nvPr/>
        </p:nvSpPr>
        <p:spPr>
          <a:xfrm>
            <a:off x="2762250" y="3060700"/>
            <a:ext cx="118745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EFE9DC"/>
                </a:solidFill>
                <a:latin typeface="Arial"/>
                <a:cs typeface="Arial"/>
              </a:rPr>
              <a:t>Модель</a:t>
            </a:r>
          </a:p>
        </p:txBody>
      </p:sp>
      <p:sp>
        <p:nvSpPr>
          <p:cNvPr id="12" name="Этап 2 подпись"/>
          <p:cNvSpPr txBox="1"/>
          <p:nvPr/>
        </p:nvSpPr>
        <p:spPr>
          <a:xfrm>
            <a:off x="2762250" y="3594100"/>
            <a:ext cx="118745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A79F90"/>
                </a:solidFill>
                <a:latin typeface="Arial"/>
                <a:cs typeface="Arial"/>
              </a:rPr>
              <a:t>извлекает факты</a:t>
            </a:r>
          </a:p>
        </p:txBody>
      </p:sp>
      <p:sp>
        <p:nvSpPr>
          <p:cNvPr id="13" name="Стрелка"/>
          <p:cNvSpPr/>
          <p:nvPr/>
        </p:nvSpPr>
        <p:spPr>
          <a:xfrm>
            <a:off x="4114800" y="3162300"/>
            <a:ext cx="304800" cy="304800"/>
          </a:xfrm>
          <a:prstGeom prst="rightArrow">
            <a:avLst/>
          </a:prstGeom>
          <a:solidFill>
            <a:srgbClr val="E058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4" name="Этап 3"/>
          <p:cNvSpPr/>
          <p:nvPr/>
        </p:nvSpPr>
        <p:spPr>
          <a:xfrm>
            <a:off x="4457700" y="2349500"/>
            <a:ext cx="1441450" cy="1778000"/>
          </a:xfrm>
          <a:prstGeom prst="roundRect">
            <a:avLst>
              <a:gd name="adj" fmla="val 3500"/>
            </a:avLst>
          </a:prstGeom>
          <a:solidFill>
            <a:srgbClr val="26231F"/>
          </a:solidFill>
          <a:ln w="9525">
            <a:solidFill>
              <a:srgbClr val="3A362F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5" name="Значок"/>
          <p:cNvSpPr/>
          <p:nvPr/>
        </p:nvSpPr>
        <p:spPr>
          <a:xfrm>
            <a:off x="4584700" y="2552700"/>
            <a:ext cx="355600" cy="355600"/>
          </a:xfrm>
          <a:prstGeom prst="can">
            <a:avLst/>
          </a:prstGeom>
          <a:solidFill>
            <a:srgbClr val="E058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6" name="Этап 3 название"/>
          <p:cNvSpPr txBox="1"/>
          <p:nvPr/>
        </p:nvSpPr>
        <p:spPr>
          <a:xfrm>
            <a:off x="4584700" y="3060700"/>
            <a:ext cx="118745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EFE9DC"/>
                </a:solidFill>
                <a:latin typeface="Arial"/>
                <a:cs typeface="Arial"/>
              </a:rPr>
              <a:t>Граф фактов</a:t>
            </a:r>
          </a:p>
        </p:txBody>
      </p:sp>
      <p:sp>
        <p:nvSpPr>
          <p:cNvPr id="17" name="Этап 3 подпись"/>
          <p:cNvSpPr txBox="1"/>
          <p:nvPr/>
        </p:nvSpPr>
        <p:spPr>
          <a:xfrm>
            <a:off x="4584700" y="3594100"/>
            <a:ext cx="118745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A79F90"/>
                </a:solidFill>
                <a:latin typeface="Arial"/>
                <a:cs typeface="Arial"/>
              </a:rPr>
              <a:t>с цитатами</a:t>
            </a:r>
          </a:p>
        </p:txBody>
      </p:sp>
      <p:sp>
        <p:nvSpPr>
          <p:cNvPr id="18" name="Стрелка"/>
          <p:cNvSpPr/>
          <p:nvPr/>
        </p:nvSpPr>
        <p:spPr>
          <a:xfrm>
            <a:off x="5937250" y="3162300"/>
            <a:ext cx="304800" cy="304800"/>
          </a:xfrm>
          <a:prstGeom prst="rightArrow">
            <a:avLst/>
          </a:prstGeom>
          <a:solidFill>
            <a:srgbClr val="E058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9" name="Этап 4"/>
          <p:cNvSpPr/>
          <p:nvPr/>
        </p:nvSpPr>
        <p:spPr>
          <a:xfrm>
            <a:off x="6280150" y="2349500"/>
            <a:ext cx="1441450" cy="1778000"/>
          </a:xfrm>
          <a:prstGeom prst="roundRect">
            <a:avLst>
              <a:gd name="adj" fmla="val 3500"/>
            </a:avLst>
          </a:prstGeom>
          <a:solidFill>
            <a:srgbClr val="26231F"/>
          </a:solidFill>
          <a:ln w="9525">
            <a:solidFill>
              <a:srgbClr val="3A362F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20" name="Значок"/>
          <p:cNvSpPr/>
          <p:nvPr/>
        </p:nvSpPr>
        <p:spPr>
          <a:xfrm>
            <a:off x="6407150" y="2552700"/>
            <a:ext cx="355600" cy="355600"/>
          </a:xfrm>
          <a:prstGeom prst="flowChartSummingJunction">
            <a:avLst/>
          </a:prstGeom>
          <a:solidFill>
            <a:srgbClr val="E058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21" name="Этап 4 название"/>
          <p:cNvSpPr txBox="1"/>
          <p:nvPr/>
        </p:nvSpPr>
        <p:spPr>
          <a:xfrm>
            <a:off x="6407150" y="3060700"/>
            <a:ext cx="118745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EFE9DC"/>
                </a:solidFill>
                <a:latin typeface="Arial"/>
                <a:cs typeface="Arial"/>
              </a:rPr>
              <a:t>Правила</a:t>
            </a:r>
          </a:p>
        </p:txBody>
      </p:sp>
      <p:sp>
        <p:nvSpPr>
          <p:cNvPr id="22" name="Этап 4 подпись"/>
          <p:cNvSpPr txBox="1"/>
          <p:nvPr/>
        </p:nvSpPr>
        <p:spPr>
          <a:xfrm>
            <a:off x="6407150" y="3594100"/>
            <a:ext cx="118745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A79F90"/>
                </a:solidFill>
                <a:latin typeface="Arial"/>
                <a:cs typeface="Arial"/>
              </a:rPr>
              <a:t>R1, R2, R3</a:t>
            </a:r>
          </a:p>
        </p:txBody>
      </p:sp>
      <p:sp>
        <p:nvSpPr>
          <p:cNvPr id="23" name="Стрелка"/>
          <p:cNvSpPr/>
          <p:nvPr/>
        </p:nvSpPr>
        <p:spPr>
          <a:xfrm>
            <a:off x="7759700" y="3162300"/>
            <a:ext cx="304800" cy="304800"/>
          </a:xfrm>
          <a:prstGeom prst="rightArrow">
            <a:avLst/>
          </a:prstGeom>
          <a:solidFill>
            <a:srgbClr val="E058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24" name="Этап 5"/>
          <p:cNvSpPr/>
          <p:nvPr/>
        </p:nvSpPr>
        <p:spPr>
          <a:xfrm>
            <a:off x="8102600" y="2349500"/>
            <a:ext cx="1441450" cy="1778000"/>
          </a:xfrm>
          <a:prstGeom prst="roundRect">
            <a:avLst>
              <a:gd name="adj" fmla="val 3500"/>
            </a:avLst>
          </a:prstGeom>
          <a:solidFill>
            <a:srgbClr val="26231F"/>
          </a:solidFill>
          <a:ln w="9525">
            <a:solidFill>
              <a:srgbClr val="3A362F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25" name="Значок"/>
          <p:cNvSpPr/>
          <p:nvPr/>
        </p:nvSpPr>
        <p:spPr>
          <a:xfrm>
            <a:off x="8229600" y="2552700"/>
            <a:ext cx="355600" cy="355600"/>
          </a:xfrm>
          <a:prstGeom prst="wedgeRoundRectCallout">
            <a:avLst/>
          </a:prstGeom>
          <a:solidFill>
            <a:srgbClr val="E058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26" name="Этап 5 название"/>
          <p:cNvSpPr txBox="1"/>
          <p:nvPr/>
        </p:nvSpPr>
        <p:spPr>
          <a:xfrm>
            <a:off x="8229600" y="3060700"/>
            <a:ext cx="118745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EFE9DC"/>
                </a:solidFill>
                <a:latin typeface="Arial"/>
                <a:cs typeface="Arial"/>
              </a:rPr>
              <a:t>Агент</a:t>
            </a:r>
          </a:p>
        </p:txBody>
      </p:sp>
      <p:sp>
        <p:nvSpPr>
          <p:cNvPr id="27" name="Этап 5 подпись"/>
          <p:cNvSpPr txBox="1"/>
          <p:nvPr/>
        </p:nvSpPr>
        <p:spPr>
          <a:xfrm>
            <a:off x="8229600" y="3594100"/>
            <a:ext cx="118745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A79F90"/>
                </a:solidFill>
                <a:latin typeface="Arial"/>
                <a:cs typeface="Arial"/>
              </a:rPr>
              <a:t>ответ или отказ</a:t>
            </a:r>
          </a:p>
        </p:txBody>
      </p:sp>
      <p:sp>
        <p:nvSpPr>
          <p:cNvPr id="28" name="Стрелка"/>
          <p:cNvSpPr/>
          <p:nvPr/>
        </p:nvSpPr>
        <p:spPr>
          <a:xfrm>
            <a:off x="9582150" y="3162300"/>
            <a:ext cx="304800" cy="304800"/>
          </a:xfrm>
          <a:prstGeom prst="rightArrow">
            <a:avLst/>
          </a:prstGeom>
          <a:solidFill>
            <a:srgbClr val="E058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29" name="Этап 6"/>
          <p:cNvSpPr/>
          <p:nvPr/>
        </p:nvSpPr>
        <p:spPr>
          <a:xfrm>
            <a:off x="9925050" y="2349500"/>
            <a:ext cx="1441450" cy="1778000"/>
          </a:xfrm>
          <a:prstGeom prst="roundRect">
            <a:avLst>
              <a:gd name="adj" fmla="val 3500"/>
            </a:avLst>
          </a:prstGeom>
          <a:solidFill>
            <a:srgbClr val="26231F"/>
          </a:solidFill>
          <a:ln w="9525">
            <a:solidFill>
              <a:srgbClr val="3A362F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30" name="Значок"/>
          <p:cNvSpPr/>
          <p:nvPr/>
        </p:nvSpPr>
        <p:spPr>
          <a:xfrm>
            <a:off x="10052050" y="2552700"/>
            <a:ext cx="355600" cy="355600"/>
          </a:xfrm>
          <a:prstGeom prst="donut">
            <a:avLst/>
          </a:prstGeom>
          <a:solidFill>
            <a:srgbClr val="E058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31" name="Этап 6 название"/>
          <p:cNvSpPr txBox="1"/>
          <p:nvPr/>
        </p:nvSpPr>
        <p:spPr>
          <a:xfrm>
            <a:off x="10052050" y="3060700"/>
            <a:ext cx="118745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EFE9DC"/>
                </a:solidFill>
                <a:latin typeface="Arial"/>
                <a:cs typeface="Arial"/>
              </a:rPr>
              <a:t>Доска</a:t>
            </a:r>
          </a:p>
        </p:txBody>
      </p:sp>
      <p:sp>
        <p:nvSpPr>
          <p:cNvPr id="32" name="Этап 6 подпись"/>
          <p:cNvSpPr txBox="1"/>
          <p:nvPr/>
        </p:nvSpPr>
        <p:spPr>
          <a:xfrm>
            <a:off x="10052050" y="3594100"/>
            <a:ext cx="118745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A79F90"/>
                </a:solidFill>
                <a:latin typeface="Arial"/>
                <a:cs typeface="Arial"/>
              </a:rPr>
              <a:t>и трасса</a:t>
            </a:r>
          </a:p>
        </p:txBody>
      </p:sp>
      <p:sp>
        <p:nvSpPr>
          <p:cNvPr id="33" name="Тезис 1"/>
          <p:cNvSpPr txBox="1"/>
          <p:nvPr/>
        </p:nvSpPr>
        <p:spPr>
          <a:xfrm>
            <a:off x="812800" y="5016500"/>
            <a:ext cx="49784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EFE9DC"/>
                </a:solidFill>
                <a:latin typeface="Arial"/>
                <a:cs typeface="Arial"/>
              </a:rPr>
              <a:t>Модель достаёт факты, </a:t>
            </a:r>
            <a:r>
              <a:rPr lang="ru-RU" sz="2200" b="0" i="0" dirty="0">
                <a:solidFill>
                  <a:srgbClr val="E0584F"/>
                </a:solidFill>
                <a:latin typeface="Arial"/>
                <a:cs typeface="Arial"/>
              </a:rPr>
              <a:t>правила их проверяют</a:t>
            </a:r>
            <a:r>
              <a:rPr lang="ru-RU" sz="2200" b="0" i="0" dirty="0">
                <a:solidFill>
                  <a:srgbClr val="EFE9DC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34" name="Тезис 2"/>
          <p:cNvSpPr txBox="1"/>
          <p:nvPr/>
        </p:nvSpPr>
        <p:spPr>
          <a:xfrm>
            <a:off x="6400800" y="5016500"/>
            <a:ext cx="49784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EFE9DC"/>
                </a:solidFill>
                <a:latin typeface="Arial"/>
                <a:cs typeface="Arial"/>
              </a:rPr>
              <a:t>Всё работает на одном ноутбуке без сети.</a:t>
            </a:r>
          </a:p>
        </p:txBody>
      </p:sp>
      <p:sp>
        <p:nvSpPr>
          <p:cNvPr id="35" name="Колонтитул"/>
          <p:cNvSpPr txBox="1"/>
          <p:nvPr/>
        </p:nvSpPr>
        <p:spPr>
          <a:xfrm>
            <a:off x="812800" y="62484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A79F90"/>
                </a:solidFill>
                <a:latin typeface="Courier New"/>
                <a:cs typeface="Courier New"/>
              </a:rPr>
              <a:t>4 · Детективная доска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23201B"/>
                </a:solidFill>
                <a:latin typeface="Georgia"/>
                <a:cs typeface="Georgia"/>
              </a:rPr>
              <a:t>Доска без проверки</a:t>
            </a:r>
          </a:p>
        </p:txBody>
      </p:sp>
      <p:sp>
        <p:nvSpPr>
          <p:cNvPr id="3" name="Маркер"/>
          <p:cNvSpPr/>
          <p:nvPr/>
        </p:nvSpPr>
        <p:spPr>
          <a:xfrm>
            <a:off x="0" y="812800"/>
            <a:ext cx="88900" cy="508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pic>
        <p:nvPicPr>
          <p:cNvPr id="4" name="Картинка" descr="Человек у стены, увешанной бумагами, фотографиями и красными нитями, на центральной бумаге надпись Pepe Silvia"/>
          <p:cNvPicPr>
            <a:picLocks noChangeAspect="1"/>
          </p:cNvPicPr>
          <p:nvPr/>
        </p:nvPicPr>
        <p:blipFill>
          <a:blip r:embed="rIdM1"/>
          <a:srcRect l="0" t="0" r="0" b="0"/>
          <a:stretch>
            <a:fillRect/>
          </a:stretch>
        </p:blipFill>
        <p:spPr>
          <a:xfrm>
            <a:off x="812800" y="1517650"/>
            <a:ext cx="5969000" cy="4318000"/>
          </a:xfrm>
          <a:prstGeom prst="roundRect">
            <a:avLst>
              <a:gd name="adj" fmla="val 1200"/>
            </a:avLst>
          </a:prstGeom>
        </p:spPr>
      </p:pic>
      <p:sp>
        <p:nvSpPr>
          <p:cNvPr id="5" name="Тезис 1"/>
          <p:cNvSpPr txBox="1"/>
          <p:nvPr/>
        </p:nvSpPr>
        <p:spPr>
          <a:xfrm>
            <a:off x="7188200" y="1517650"/>
            <a:ext cx="4191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23201B"/>
                </a:solidFill>
                <a:latin typeface="Arial"/>
                <a:cs typeface="Arial"/>
              </a:rPr>
              <a:t>Нитей много, а проверки фактов нет.</a:t>
            </a:r>
          </a:p>
        </p:txBody>
      </p:sp>
      <p:sp>
        <p:nvSpPr>
          <p:cNvPr id="6" name="Тезис 2"/>
          <p:cNvSpPr txBox="1"/>
          <p:nvPr/>
        </p:nvSpPr>
        <p:spPr>
          <a:xfrm>
            <a:off x="7188200" y="2444750"/>
            <a:ext cx="4191000" cy="1206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23201B"/>
                </a:solidFill>
                <a:latin typeface="Arial"/>
                <a:cs typeface="Arial"/>
              </a:rPr>
              <a:t>У нас каждая нить опирается на </a:t>
            </a:r>
            <a:r>
              <a:rPr lang="ru-RU" sz="2200" b="0" i="0" dirty="0">
                <a:solidFill>
                  <a:srgbClr val="B3261E"/>
                </a:solidFill>
                <a:latin typeface="Arial"/>
                <a:cs typeface="Arial"/>
              </a:rPr>
              <a:t>цитату</a:t>
            </a:r>
            <a:r>
              <a:rPr lang="ru-RU" sz="2200" b="0" i="0" dirty="0">
                <a:solidFill>
                  <a:srgbClr val="23201B"/>
                </a:solidFill>
                <a:latin typeface="Arial"/>
                <a:cs typeface="Arial"/>
              </a:rPr>
              <a:t>, а правила ищут противоречия.</a:t>
            </a:r>
          </a:p>
        </p:txBody>
      </p:sp>
      <p:sp>
        <p:nvSpPr>
          <p:cNvPr id="7" name="Источник кадра"/>
          <p:cNvSpPr txBox="1"/>
          <p:nvPr/>
        </p:nvSpPr>
        <p:spPr>
          <a:xfrm>
            <a:off x="7188200" y="3810000"/>
            <a:ext cx="4191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Arial"/>
                <a:cs typeface="Arial"/>
              </a:rPr>
              <a:t>Кадр из сериала «В Филадельфии всегда солнечно», известный мем про доску с нитями.</a:t>
            </a:r>
          </a:p>
        </p:txBody>
      </p:sp>
      <p:sp>
        <p:nvSpPr>
          <p:cNvPr id="8" name="Колонтитул"/>
          <p:cNvSpPr txBox="1"/>
          <p:nvPr/>
        </p:nvSpPr>
        <p:spPr>
          <a:xfrm>
            <a:off x="812800" y="62484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5 · Детективная доска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23201B"/>
                </a:solidFill>
                <a:latin typeface="Georgia"/>
                <a:cs typeface="Georgia"/>
              </a:rPr>
              <a:t>Так выглядит доска</a:t>
            </a:r>
          </a:p>
        </p:txBody>
      </p:sp>
      <p:sp>
        <p:nvSpPr>
          <p:cNvPr id="3" name="Маркер"/>
          <p:cNvSpPr/>
          <p:nvPr/>
        </p:nvSpPr>
        <p:spPr>
          <a:xfrm>
            <a:off x="0" y="812800"/>
            <a:ext cx="88900" cy="508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4" name="Доска-пробка"/>
          <p:cNvSpPr/>
          <p:nvPr/>
        </p:nvSpPr>
        <p:spPr>
          <a:xfrm>
            <a:off x="812800" y="1517650"/>
            <a:ext cx="6985000" cy="4191000"/>
          </a:xfrm>
          <a:prstGeom prst="roundRect">
            <a:avLst>
              <a:gd name="adj" fmla="val 2000"/>
            </a:avLst>
          </a:prstGeom>
          <a:solidFill>
            <a:srgbClr val="3A2C1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cxnSp>
        <p:nvCxnSpPr>
          <p:cNvPr id="5" name="Нить"/>
          <p:cNvCxnSpPr/>
          <p:nvPr/>
        </p:nvCxnSpPr>
        <p:spPr>
          <a:xfrm flipV="1">
            <a:off x="1955800" y="1771650"/>
            <a:ext cx="2349500" cy="1219200"/>
          </a:xfrm>
          <a:prstGeom prst="line">
            <a:avLst/>
          </a:prstGeom>
          <a:ln w="19050">
            <a:solidFill>
              <a:srgbClr val="D94A40"/>
            </a:solidFill>
          </a:ln>
        </p:spPr>
      </p:cxnSp>
      <p:cxnSp>
        <p:nvCxnSpPr>
          <p:cNvPr id="6" name="Нить"/>
          <p:cNvCxnSpPr/>
          <p:nvPr/>
        </p:nvCxnSpPr>
        <p:spPr>
          <a:xfrm>
            <a:off x="1955800" y="2990850"/>
            <a:ext cx="2413000" cy="508000"/>
          </a:xfrm>
          <a:prstGeom prst="line">
            <a:avLst/>
          </a:prstGeom>
          <a:ln w="19050">
            <a:solidFill>
              <a:srgbClr val="D94A40"/>
            </a:solidFill>
          </a:ln>
        </p:spPr>
      </p:cxnSp>
      <p:cxnSp>
        <p:nvCxnSpPr>
          <p:cNvPr id="7" name="Нить"/>
          <p:cNvCxnSpPr/>
          <p:nvPr/>
        </p:nvCxnSpPr>
        <p:spPr>
          <a:xfrm>
            <a:off x="4305300" y="1771650"/>
            <a:ext cx="2286000" cy="520700"/>
          </a:xfrm>
          <a:prstGeom prst="line">
            <a:avLst/>
          </a:prstGeom>
          <a:ln w="19050">
            <a:solidFill>
              <a:srgbClr val="D94A40"/>
            </a:solidFill>
          </a:ln>
        </p:spPr>
      </p:cxnSp>
      <p:cxnSp>
        <p:nvCxnSpPr>
          <p:cNvPr id="8" name="Нить"/>
          <p:cNvCxnSpPr/>
          <p:nvPr/>
        </p:nvCxnSpPr>
        <p:spPr>
          <a:xfrm>
            <a:off x="4368800" y="3498850"/>
            <a:ext cx="2254250" cy="635000"/>
          </a:xfrm>
          <a:prstGeom prst="line">
            <a:avLst/>
          </a:prstGeom>
          <a:ln w="19050">
            <a:solidFill>
              <a:srgbClr val="D94A40"/>
            </a:solidFill>
          </a:ln>
        </p:spPr>
      </p:cxnSp>
      <p:cxnSp>
        <p:nvCxnSpPr>
          <p:cNvPr id="9" name="Нить"/>
          <p:cNvCxnSpPr/>
          <p:nvPr/>
        </p:nvCxnSpPr>
        <p:spPr>
          <a:xfrm>
            <a:off x="6591300" y="2292350"/>
            <a:ext cx="31750" cy="1841500"/>
          </a:xfrm>
          <a:prstGeom prst="line">
            <a:avLst/>
          </a:prstGeom>
          <a:ln w="19050">
            <a:solidFill>
              <a:srgbClr val="D94A40"/>
            </a:solidFill>
          </a:ln>
        </p:spPr>
      </p:cxnSp>
      <p:sp>
        <p:nvSpPr>
          <p:cNvPr id="10" name="Карточка"/>
          <p:cNvSpPr/>
          <p:nvPr/>
        </p:nvSpPr>
        <p:spPr>
          <a:xfrm rot="-120000">
            <a:off x="3225800" y="1695450"/>
            <a:ext cx="2159000" cy="1638300"/>
          </a:xfrm>
          <a:prstGeom prst="roundRect">
            <a:avLst>
              <a:gd name="adj" fmla="val 4000"/>
            </a:avLst>
          </a:prstGeom>
          <a:solidFill>
            <a:srgbClr val="F6F1E4"/>
          </a:solidFill>
          <a:ln>
            <a:noFill/>
          </a:ln>
        </p:spPr>
        <p:txBody>
          <a:bodyPr wrap="square" lIns="101600" tIns="101600" rIns="101600" bIns="10160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200" b="0" i="0" dirty="0">
                <a:solidFill>
                  <a:srgbClr val="B3261E"/>
                </a:solidFill>
                <a:latin typeface="Courier New"/>
                <a:cs typeface="Courier New"/>
              </a:rPr>
              <a:t>L. BRACKENSTALL · CLAIM</a:t>
            </a:r>
          </a:p>
          <a:p>
            <a:pPr algn="l" marL="0" indent="0">
              <a:lnSpc>
                <a:spcPct val="104166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500" b="0" i="1" dirty="0">
                <a:solidFill>
                  <a:srgbClr val="23201B"/>
                </a:solidFill>
                <a:latin typeface="Georgia"/>
                <a:cs typeface="Georgia"/>
              </a:rPr>
              <a:t>“Lady Brackenstall was at oaken chair”</a:t>
            </a:r>
          </a:p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~ extracted</a:t>
            </a:r>
          </a:p>
        </p:txBody>
      </p:sp>
      <p:sp>
        <p:nvSpPr>
          <p:cNvPr id="11" name="Карточка"/>
          <p:cNvSpPr/>
          <p:nvPr/>
        </p:nvSpPr>
        <p:spPr>
          <a:xfrm rot="90000">
            <a:off x="5638800" y="2216150"/>
            <a:ext cx="1905000" cy="1638300"/>
          </a:xfrm>
          <a:prstGeom prst="roundRect">
            <a:avLst>
              <a:gd name="adj" fmla="val 4000"/>
            </a:avLst>
          </a:prstGeom>
          <a:solidFill>
            <a:srgbClr val="F6F1E4"/>
          </a:solidFill>
          <a:ln>
            <a:noFill/>
          </a:ln>
        </p:spPr>
        <p:txBody>
          <a:bodyPr wrap="square" lIns="101600" tIns="101600" rIns="101600" bIns="10160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200" b="0" i="0" dirty="0">
                <a:solidFill>
                  <a:srgbClr val="B3261E"/>
                </a:solidFill>
                <a:latin typeface="Courier New"/>
                <a:cs typeface="Courier New"/>
              </a:rPr>
              <a:t>L. BRACKENSTALL · CLAIM</a:t>
            </a:r>
          </a:p>
          <a:p>
            <a:pPr algn="l" marL="0" indent="0">
              <a:lnSpc>
                <a:spcPct val="104166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500" b="0" i="1" dirty="0">
                <a:solidFill>
                  <a:srgbClr val="23201B"/>
                </a:solidFill>
                <a:latin typeface="Georgia"/>
                <a:cs typeface="Georgia"/>
              </a:rPr>
              <a:t>“She has red spots on her limb”</a:t>
            </a:r>
          </a:p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~ extracted</a:t>
            </a:r>
          </a:p>
        </p:txBody>
      </p:sp>
      <p:sp>
        <p:nvSpPr>
          <p:cNvPr id="12" name="Карточка"/>
          <p:cNvSpPr/>
          <p:nvPr/>
        </p:nvSpPr>
        <p:spPr>
          <a:xfrm rot="-60000">
            <a:off x="1066800" y="2914650"/>
            <a:ext cx="1778000" cy="1016000"/>
          </a:xfrm>
          <a:prstGeom prst="roundRect">
            <a:avLst>
              <a:gd name="adj" fmla="val 4000"/>
            </a:avLst>
          </a:prstGeom>
          <a:solidFill>
            <a:srgbClr val="EFE6D2"/>
          </a:solidFill>
          <a:ln>
            <a:noFill/>
          </a:ln>
        </p:spPr>
        <p:txBody>
          <a:bodyPr wrap="square" lIns="101600" tIns="101600" rIns="101600" bIns="10160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PERSON</a:t>
            </a:r>
          </a:p>
          <a:p>
            <a:pPr algn="l" marL="0" indent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dirty="0">
                <a:solidFill>
                  <a:srgbClr val="23201B"/>
                </a:solidFill>
                <a:latin typeface="Georgia"/>
                <a:cs typeface="Georgia"/>
              </a:rPr>
              <a:t>Lady Brackenstall</a:t>
            </a:r>
          </a:p>
        </p:txBody>
      </p:sp>
      <p:sp>
        <p:nvSpPr>
          <p:cNvPr id="13" name="Карточка"/>
          <p:cNvSpPr/>
          <p:nvPr/>
        </p:nvSpPr>
        <p:spPr>
          <a:xfrm rot="60000">
            <a:off x="3352800" y="3422650"/>
            <a:ext cx="2032000" cy="1409700"/>
          </a:xfrm>
          <a:prstGeom prst="roundRect">
            <a:avLst>
              <a:gd name="adj" fmla="val 4000"/>
            </a:avLst>
          </a:prstGeom>
          <a:solidFill>
            <a:srgbClr val="F6F1E4"/>
          </a:solidFill>
          <a:ln>
            <a:noFill/>
          </a:ln>
        </p:spPr>
        <p:txBody>
          <a:bodyPr wrap="square" lIns="101600" tIns="101600" rIns="101600" bIns="10160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EVENT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500" b="1" i="0" dirty="0">
                <a:solidFill>
                  <a:srgbClr val="23201B"/>
                </a:solidFill>
                <a:latin typeface="Georgia"/>
                <a:cs typeface="Georgia"/>
              </a:rPr>
              <a:t>Lady Brackenstall at window</a:t>
            </a:r>
          </a:p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~ curated</a:t>
            </a:r>
          </a:p>
        </p:txBody>
      </p:sp>
      <p:sp>
        <p:nvSpPr>
          <p:cNvPr id="14" name="Карточка"/>
          <p:cNvSpPr/>
          <p:nvPr/>
        </p:nvSpPr>
        <p:spPr>
          <a:xfrm rot="-90000">
            <a:off x="5702300" y="4057650"/>
            <a:ext cx="1841500" cy="1409700"/>
          </a:xfrm>
          <a:prstGeom prst="roundRect">
            <a:avLst>
              <a:gd name="adj" fmla="val 4000"/>
            </a:avLst>
          </a:prstGeom>
          <a:solidFill>
            <a:srgbClr val="F6F1E4"/>
          </a:solidFill>
          <a:ln>
            <a:noFill/>
          </a:ln>
        </p:spPr>
        <p:txBody>
          <a:bodyPr wrap="square" lIns="101600" tIns="101600" rIns="101600" bIns="10160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EVENT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500" b="1" i="0" dirty="0">
                <a:solidFill>
                  <a:srgbClr val="23201B"/>
                </a:solidFill>
                <a:latin typeface="Georgia"/>
                <a:cs typeface="Georgia"/>
              </a:rPr>
              <a:t>Lady Brackenstall at oaken chair</a:t>
            </a:r>
          </a:p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~ curated</a:t>
            </a:r>
          </a:p>
        </p:txBody>
      </p:sp>
      <p:sp>
        <p:nvSpPr>
          <p:cNvPr id="15" name="Тег противоречия"/>
          <p:cNvSpPr/>
          <p:nvPr/>
        </p:nvSpPr>
        <p:spPr>
          <a:xfrm rot="-60000">
            <a:off x="3797300" y="4921250"/>
            <a:ext cx="2794000" cy="660400"/>
          </a:xfrm>
          <a:prstGeom prst="roundRect">
            <a:avLst>
              <a:gd name="adj" fmla="val 4000"/>
            </a:avLst>
          </a:prstGeom>
          <a:solidFill>
            <a:srgbClr val="B3261E"/>
          </a:solidFill>
          <a:ln w="12700">
            <a:solidFill>
              <a:srgbClr val="7A1812"/>
            </a:solidFill>
          </a:ln>
        </p:spPr>
        <p:txBody>
          <a:bodyPr wrap="square" lIns="88900" tIns="88900" rIns="88900" bIns="889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400" b="0" i="0" dirty="0">
                <a:solidFill>
                  <a:srgbClr val="FFF6E6"/>
                </a:solidFill>
                <a:latin typeface="Courier New"/>
                <a:cs typeface="Courier New"/>
              </a:rPr>
              <a:t>! CONTRADICTION</a:t>
            </a:r>
          </a:p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FFF6E6"/>
                </a:solidFill>
                <a:latin typeface="Courier New"/>
                <a:cs typeface="Courier New"/>
              </a:rPr>
              <a:t>conditional · rule R1</a:t>
            </a:r>
          </a:p>
        </p:txBody>
      </p:sp>
      <p:sp>
        <p:nvSpPr>
          <p:cNvPr id="16" name="Кнопка-булавка"/>
          <p:cNvSpPr/>
          <p:nvPr/>
        </p:nvSpPr>
        <p:spPr>
          <a:xfrm>
            <a:off x="4235450" y="1701800"/>
            <a:ext cx="139700" cy="139700"/>
          </a:xfrm>
          <a:prstGeom prst="ellipse">
            <a:avLst/>
          </a:prstGeom>
          <a:solidFill>
            <a:srgbClr val="D94A4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7" name="Кнопка-булавка"/>
          <p:cNvSpPr/>
          <p:nvPr/>
        </p:nvSpPr>
        <p:spPr>
          <a:xfrm>
            <a:off x="6521450" y="2222500"/>
            <a:ext cx="139700" cy="139700"/>
          </a:xfrm>
          <a:prstGeom prst="ellipse">
            <a:avLst/>
          </a:prstGeom>
          <a:solidFill>
            <a:srgbClr val="D94A4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8" name="Кнопка-булавка"/>
          <p:cNvSpPr/>
          <p:nvPr/>
        </p:nvSpPr>
        <p:spPr>
          <a:xfrm>
            <a:off x="1885950" y="2921000"/>
            <a:ext cx="139700" cy="139700"/>
          </a:xfrm>
          <a:prstGeom prst="ellipse">
            <a:avLst/>
          </a:prstGeom>
          <a:solidFill>
            <a:srgbClr val="C9C1B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9" name="Кнопка-булавка"/>
          <p:cNvSpPr/>
          <p:nvPr/>
        </p:nvSpPr>
        <p:spPr>
          <a:xfrm>
            <a:off x="4298950" y="3429000"/>
            <a:ext cx="139700" cy="139700"/>
          </a:xfrm>
          <a:prstGeom prst="ellipse">
            <a:avLst/>
          </a:prstGeom>
          <a:solidFill>
            <a:srgbClr val="D94A4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20" name="Кнопка-булавка"/>
          <p:cNvSpPr/>
          <p:nvPr/>
        </p:nvSpPr>
        <p:spPr>
          <a:xfrm>
            <a:off x="6553200" y="4064000"/>
            <a:ext cx="139700" cy="139700"/>
          </a:xfrm>
          <a:prstGeom prst="ellipse">
            <a:avLst/>
          </a:prstGeom>
          <a:solidFill>
            <a:srgbClr val="D94A4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cxnSp>
        <p:nvCxnSpPr>
          <p:cNvPr id="21" name="Разделитель"/>
          <p:cNvCxnSpPr/>
          <p:nvPr/>
        </p:nvCxnSpPr>
        <p:spPr>
          <a:xfrm>
            <a:off x="8102600" y="1517650"/>
            <a:ext cx="3276600" cy="0"/>
          </a:xfrm>
          <a:prstGeom prst="line">
            <a:avLst/>
          </a:prstGeom>
          <a:ln w="9525">
            <a:solidFill>
              <a:srgbClr val="D9D1BF"/>
            </a:solidFill>
          </a:ln>
        </p:spPr>
      </p:cxnSp>
      <p:sp>
        <p:nvSpPr>
          <p:cNvPr id="22" name="Пункт 1 номер"/>
          <p:cNvSpPr txBox="1"/>
          <p:nvPr/>
        </p:nvSpPr>
        <p:spPr>
          <a:xfrm>
            <a:off x="8102600" y="1619250"/>
            <a:ext cx="3276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B3261E"/>
                </a:solidFill>
                <a:latin typeface="Courier New"/>
                <a:cs typeface="Courier New"/>
              </a:rPr>
              <a:t>01</a:t>
            </a:r>
          </a:p>
        </p:txBody>
      </p:sp>
      <p:sp>
        <p:nvSpPr>
          <p:cNvPr id="23" name="Пункт 1"/>
          <p:cNvSpPr txBox="1"/>
          <p:nvPr/>
        </p:nvSpPr>
        <p:spPr>
          <a:xfrm>
            <a:off x="8102600" y="1885950"/>
            <a:ext cx="32766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23201B"/>
                </a:solidFill>
                <a:latin typeface="Arial"/>
                <a:cs typeface="Arial"/>
              </a:rPr>
              <a:t>Каждая карточка: факт и цитата из рассказа.</a:t>
            </a:r>
          </a:p>
        </p:txBody>
      </p:sp>
      <p:cxnSp>
        <p:nvCxnSpPr>
          <p:cNvPr id="24" name="Разделитель"/>
          <p:cNvCxnSpPr/>
          <p:nvPr/>
        </p:nvCxnSpPr>
        <p:spPr>
          <a:xfrm>
            <a:off x="8102600" y="2635250"/>
            <a:ext cx="3276600" cy="0"/>
          </a:xfrm>
          <a:prstGeom prst="line">
            <a:avLst/>
          </a:prstGeom>
          <a:ln w="9525">
            <a:solidFill>
              <a:srgbClr val="D9D1BF"/>
            </a:solidFill>
          </a:ln>
        </p:spPr>
      </p:cxnSp>
      <p:sp>
        <p:nvSpPr>
          <p:cNvPr id="25" name="Пункт 2 номер"/>
          <p:cNvSpPr txBox="1"/>
          <p:nvPr/>
        </p:nvSpPr>
        <p:spPr>
          <a:xfrm>
            <a:off x="8102600" y="2736850"/>
            <a:ext cx="3276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B3261E"/>
                </a:solidFill>
                <a:latin typeface="Courier New"/>
                <a:cs typeface="Courier New"/>
              </a:rPr>
              <a:t>02</a:t>
            </a:r>
          </a:p>
        </p:txBody>
      </p:sp>
      <p:sp>
        <p:nvSpPr>
          <p:cNvPr id="26" name="Пункт 2"/>
          <p:cNvSpPr txBox="1"/>
          <p:nvPr/>
        </p:nvSpPr>
        <p:spPr>
          <a:xfrm>
            <a:off x="8102600" y="3003550"/>
            <a:ext cx="32766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23201B"/>
                </a:solidFill>
                <a:latin typeface="Arial"/>
                <a:cs typeface="Arial"/>
              </a:rPr>
              <a:t>Метка внизу показывает происхождение: extracted, derived, curated.</a:t>
            </a:r>
          </a:p>
        </p:txBody>
      </p:sp>
      <p:cxnSp>
        <p:nvCxnSpPr>
          <p:cNvPr id="27" name="Разделитель"/>
          <p:cNvCxnSpPr/>
          <p:nvPr/>
        </p:nvCxnSpPr>
        <p:spPr>
          <a:xfrm>
            <a:off x="8102600" y="4006850"/>
            <a:ext cx="3276600" cy="0"/>
          </a:xfrm>
          <a:prstGeom prst="line">
            <a:avLst/>
          </a:prstGeom>
          <a:ln w="9525">
            <a:solidFill>
              <a:srgbClr val="D9D1BF"/>
            </a:solidFill>
          </a:ln>
        </p:spPr>
      </p:cxnSp>
      <p:sp>
        <p:nvSpPr>
          <p:cNvPr id="28" name="Пункт 3 номер"/>
          <p:cNvSpPr txBox="1"/>
          <p:nvPr/>
        </p:nvSpPr>
        <p:spPr>
          <a:xfrm>
            <a:off x="8102600" y="4108450"/>
            <a:ext cx="3276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B3261E"/>
                </a:solidFill>
                <a:latin typeface="Courier New"/>
                <a:cs typeface="Courier New"/>
              </a:rPr>
              <a:t>03</a:t>
            </a:r>
          </a:p>
        </p:txBody>
      </p:sp>
      <p:sp>
        <p:nvSpPr>
          <p:cNvPr id="29" name="Пункт 3"/>
          <p:cNvSpPr txBox="1"/>
          <p:nvPr/>
        </p:nvSpPr>
        <p:spPr>
          <a:xfrm>
            <a:off x="8102600" y="4375150"/>
            <a:ext cx="32766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23201B"/>
                </a:solidFill>
                <a:latin typeface="Arial"/>
                <a:cs typeface="Arial"/>
              </a:rPr>
              <a:t>Красная нить связывает факты. Красный тег: правило нашло противоречие.</a:t>
            </a:r>
          </a:p>
        </p:txBody>
      </p:sp>
      <p:sp>
        <p:nvSpPr>
          <p:cNvPr id="30" name="Колонтитул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6 · Пример из Abbey Grange: леди Брэкенсталл, стул и окно (данные демо)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23201B"/>
                </a:solidFill>
                <a:latin typeface="Georgia"/>
                <a:cs typeface="Georgia"/>
              </a:rPr>
              <a:t>Откуда взят каждый факт</a:t>
            </a:r>
          </a:p>
        </p:txBody>
      </p:sp>
      <p:sp>
        <p:nvSpPr>
          <p:cNvPr id="3" name="Маркер"/>
          <p:cNvSpPr/>
          <p:nvPr/>
        </p:nvSpPr>
        <p:spPr>
          <a:xfrm>
            <a:off x="0" y="812800"/>
            <a:ext cx="88900" cy="508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4" name="extracted"/>
          <p:cNvSpPr/>
          <p:nvPr/>
        </p:nvSpPr>
        <p:spPr>
          <a:xfrm>
            <a:off x="812800" y="1670050"/>
            <a:ext cx="2489200" cy="1778000"/>
          </a:xfrm>
          <a:prstGeom prst="roundRect">
            <a:avLst>
              <a:gd name="adj" fmla="val 3000"/>
            </a:avLst>
          </a:prstGeom>
          <a:solidFill>
            <a:srgbClr val="FBF8F0"/>
          </a:solidFill>
          <a:ln w="9525">
            <a:solidFill>
              <a:srgbClr val="D9D1BF"/>
            </a:solidFill>
          </a:ln>
        </p:spPr>
        <p:txBody>
          <a:bodyPr wrap="square" lIns="203200" tIns="304800" rIns="203200" bIns="2032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600" b="1" i="0" dirty="0">
                <a:solidFill>
                  <a:srgbClr val="23201B"/>
                </a:solidFill>
                <a:latin typeface="Courier New"/>
                <a:cs typeface="Courier New"/>
              </a:rPr>
              <a:t>extracted</a:t>
            </a:r>
          </a:p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6A6358"/>
                </a:solidFill>
                <a:latin typeface="Arial"/>
                <a:cs typeface="Arial"/>
              </a:rPr>
              <a:t>достала модель; может ошибаться</a:t>
            </a:r>
          </a:p>
        </p:txBody>
      </p:sp>
      <p:sp>
        <p:nvSpPr>
          <p:cNvPr id="5" name="Цвет метки"/>
          <p:cNvSpPr/>
          <p:nvPr/>
        </p:nvSpPr>
        <p:spPr>
          <a:xfrm>
            <a:off x="812800" y="1670050"/>
            <a:ext cx="2489200" cy="50800"/>
          </a:xfrm>
          <a:prstGeom prst="rect">
            <a:avLst/>
          </a:prstGeom>
          <a:solidFill>
            <a:srgbClr val="8A827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6" name="derived"/>
          <p:cNvSpPr/>
          <p:nvPr/>
        </p:nvSpPr>
        <p:spPr>
          <a:xfrm>
            <a:off x="3505200" y="1670050"/>
            <a:ext cx="2489200" cy="1778000"/>
          </a:xfrm>
          <a:prstGeom prst="roundRect">
            <a:avLst>
              <a:gd name="adj" fmla="val 3000"/>
            </a:avLst>
          </a:prstGeom>
          <a:solidFill>
            <a:srgbClr val="FBF8F0"/>
          </a:solidFill>
          <a:ln w="9525">
            <a:solidFill>
              <a:srgbClr val="D9D1BF"/>
            </a:solidFill>
          </a:ln>
        </p:spPr>
        <p:txBody>
          <a:bodyPr wrap="square" lIns="203200" tIns="304800" rIns="203200" bIns="2032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600" b="1" i="0" dirty="0">
                <a:solidFill>
                  <a:srgbClr val="23201B"/>
                </a:solidFill>
                <a:latin typeface="Courier New"/>
                <a:cs typeface="Courier New"/>
              </a:rPr>
              <a:t>derived</a:t>
            </a:r>
          </a:p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6A6358"/>
                </a:solidFill>
                <a:latin typeface="Arial"/>
                <a:cs typeface="Arial"/>
              </a:rPr>
              <a:t>вывело правило; есть объяснение</a:t>
            </a:r>
          </a:p>
        </p:txBody>
      </p:sp>
      <p:sp>
        <p:nvSpPr>
          <p:cNvPr id="7" name="Цвет метки"/>
          <p:cNvSpPr/>
          <p:nvPr/>
        </p:nvSpPr>
        <p:spPr>
          <a:xfrm>
            <a:off x="3505200" y="1670050"/>
            <a:ext cx="2489200" cy="50800"/>
          </a:xfrm>
          <a:prstGeom prst="rect">
            <a:avLst/>
          </a:prstGeom>
          <a:solidFill>
            <a:srgbClr val="23201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8" name="conditional"/>
          <p:cNvSpPr/>
          <p:nvPr/>
        </p:nvSpPr>
        <p:spPr>
          <a:xfrm>
            <a:off x="6197600" y="1670050"/>
            <a:ext cx="2489200" cy="1778000"/>
          </a:xfrm>
          <a:prstGeom prst="roundRect">
            <a:avLst>
              <a:gd name="adj" fmla="val 3000"/>
            </a:avLst>
          </a:prstGeom>
          <a:solidFill>
            <a:srgbClr val="FBF8F0"/>
          </a:solidFill>
          <a:ln w="9525">
            <a:solidFill>
              <a:srgbClr val="D9D1BF"/>
            </a:solidFill>
          </a:ln>
        </p:spPr>
        <p:txBody>
          <a:bodyPr wrap="square" lIns="203200" tIns="304800" rIns="203200" bIns="2032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600" b="1" i="0" dirty="0">
                <a:solidFill>
                  <a:srgbClr val="23201B"/>
                </a:solidFill>
                <a:latin typeface="Courier New"/>
                <a:cs typeface="Courier New"/>
              </a:rPr>
              <a:t>conditional</a:t>
            </a:r>
          </a:p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6A6358"/>
                </a:solidFill>
                <a:latin typeface="Arial"/>
                <a:cs typeface="Arial"/>
              </a:rPr>
              <a:t>правило на сомнительном факте</a:t>
            </a:r>
          </a:p>
        </p:txBody>
      </p:sp>
      <p:sp>
        <p:nvSpPr>
          <p:cNvPr id="9" name="Цвет метки"/>
          <p:cNvSpPr/>
          <p:nvPr/>
        </p:nvSpPr>
        <p:spPr>
          <a:xfrm>
            <a:off x="6197600" y="1670050"/>
            <a:ext cx="2489200" cy="50800"/>
          </a:xfrm>
          <a:prstGeom prst="rect">
            <a:avLst/>
          </a:prstGeom>
          <a:solidFill>
            <a:srgbClr val="B07A1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0" name="curated"/>
          <p:cNvSpPr/>
          <p:nvPr/>
        </p:nvSpPr>
        <p:spPr>
          <a:xfrm>
            <a:off x="8890000" y="1670050"/>
            <a:ext cx="2489200" cy="1778000"/>
          </a:xfrm>
          <a:prstGeom prst="roundRect">
            <a:avLst>
              <a:gd name="adj" fmla="val 3000"/>
            </a:avLst>
          </a:prstGeom>
          <a:solidFill>
            <a:srgbClr val="FBF8F0"/>
          </a:solidFill>
          <a:ln w="9525">
            <a:solidFill>
              <a:srgbClr val="D9D1BF"/>
            </a:solidFill>
          </a:ln>
        </p:spPr>
        <p:txBody>
          <a:bodyPr wrap="square" lIns="203200" tIns="304800" rIns="203200" bIns="2032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600" b="1" i="0" dirty="0">
                <a:solidFill>
                  <a:srgbClr val="23201B"/>
                </a:solidFill>
                <a:latin typeface="Courier New"/>
                <a:cs typeface="Courier New"/>
              </a:rPr>
              <a:t>curated</a:t>
            </a:r>
          </a:p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6A6358"/>
                </a:solidFill>
                <a:latin typeface="Arial"/>
                <a:cs typeface="Arial"/>
              </a:rPr>
              <a:t>факт введён вручную и перепроверен человеком (в демо)</a:t>
            </a:r>
          </a:p>
        </p:txBody>
      </p:sp>
      <p:sp>
        <p:nvSpPr>
          <p:cNvPr id="11" name="Цвет метки"/>
          <p:cNvSpPr/>
          <p:nvPr/>
        </p:nvSpPr>
        <p:spPr>
          <a:xfrm>
            <a:off x="8890000" y="1670050"/>
            <a:ext cx="2489200" cy="508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2" name="Вывод"/>
          <p:cNvSpPr txBox="1"/>
          <p:nvPr/>
        </p:nvSpPr>
        <p:spPr>
          <a:xfrm>
            <a:off x="812800" y="3810000"/>
            <a:ext cx="105664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23201B"/>
                </a:solidFill>
                <a:latin typeface="Arial"/>
                <a:cs typeface="Arial"/>
              </a:rPr>
              <a:t>У каждого факта есть метка происхождения. По ней видно, чему верить меньше, а чему больше.</a:t>
            </a:r>
          </a:p>
        </p:txBody>
      </p:sp>
      <p:sp>
        <p:nvSpPr>
          <p:cNvPr id="13" name="Колонтитул"/>
          <p:cNvSpPr txBox="1"/>
          <p:nvPr/>
        </p:nvSpPr>
        <p:spPr>
          <a:xfrm>
            <a:off x="812800" y="62484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7 · Детективная доска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23201B"/>
                </a:solidFill>
                <a:latin typeface="Georgia"/>
                <a:cs typeface="Georgia"/>
              </a:rPr>
              <a:t>Три правила</a:t>
            </a:r>
          </a:p>
        </p:txBody>
      </p:sp>
      <p:sp>
        <p:nvSpPr>
          <p:cNvPr id="3" name="Маркер"/>
          <p:cNvSpPr/>
          <p:nvPr/>
        </p:nvSpPr>
        <p:spPr>
          <a:xfrm>
            <a:off x="0" y="812800"/>
            <a:ext cx="88900" cy="508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4" name="R1 метка"/>
          <p:cNvSpPr txBox="1"/>
          <p:nvPr/>
        </p:nvSpPr>
        <p:spPr>
          <a:xfrm>
            <a:off x="812800" y="1619250"/>
            <a:ext cx="1143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0" i="0" dirty="0">
                <a:solidFill>
                  <a:srgbClr val="B3261E"/>
                </a:solidFill>
                <a:latin typeface="Courier New"/>
                <a:cs typeface="Courier New"/>
              </a:rPr>
              <a:t>R1</a:t>
            </a:r>
          </a:p>
        </p:txBody>
      </p:sp>
      <p:sp>
        <p:nvSpPr>
          <p:cNvPr id="5" name="R1 текст"/>
          <p:cNvSpPr txBox="1"/>
          <p:nvPr/>
        </p:nvSpPr>
        <p:spPr>
          <a:xfrm>
            <a:off x="2311400" y="1670050"/>
            <a:ext cx="90678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23201B"/>
                </a:solidFill>
                <a:latin typeface="Arial"/>
                <a:cs typeface="Arial"/>
              </a:rPr>
              <a:t>Человек не может быть в двух местах сразу.</a:t>
            </a:r>
          </a:p>
        </p:txBody>
      </p:sp>
      <p:cxnSp>
        <p:nvCxnSpPr>
          <p:cNvPr id="6" name="Разделитель"/>
          <p:cNvCxnSpPr/>
          <p:nvPr/>
        </p:nvCxnSpPr>
        <p:spPr>
          <a:xfrm>
            <a:off x="812800" y="2368550"/>
            <a:ext cx="10566400" cy="0"/>
          </a:xfrm>
          <a:prstGeom prst="line">
            <a:avLst/>
          </a:prstGeom>
          <a:ln w="9525">
            <a:solidFill>
              <a:srgbClr val="D9D1BF"/>
            </a:solidFill>
          </a:ln>
        </p:spPr>
      </p:cxnSp>
      <p:sp>
        <p:nvSpPr>
          <p:cNvPr id="7" name="R2 метка"/>
          <p:cNvSpPr txBox="1"/>
          <p:nvPr/>
        </p:nvSpPr>
        <p:spPr>
          <a:xfrm>
            <a:off x="812800" y="2476500"/>
            <a:ext cx="1143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0" i="0" dirty="0">
                <a:solidFill>
                  <a:srgbClr val="B3261E"/>
                </a:solidFill>
                <a:latin typeface="Courier New"/>
                <a:cs typeface="Courier New"/>
              </a:rPr>
              <a:t>R2</a:t>
            </a:r>
          </a:p>
        </p:txBody>
      </p:sp>
      <p:sp>
        <p:nvSpPr>
          <p:cNvPr id="8" name="R2 текст"/>
          <p:cNvSpPr txBox="1"/>
          <p:nvPr/>
        </p:nvSpPr>
        <p:spPr>
          <a:xfrm>
            <a:off x="2311400" y="2527300"/>
            <a:ext cx="90678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23201B"/>
                </a:solidFill>
                <a:latin typeface="Arial"/>
                <a:cs typeface="Arial"/>
              </a:rPr>
              <a:t>Порядок событий не замыкается в круг.</a:t>
            </a:r>
          </a:p>
        </p:txBody>
      </p:sp>
      <p:cxnSp>
        <p:nvCxnSpPr>
          <p:cNvPr id="9" name="Разделитель"/>
          <p:cNvCxnSpPr/>
          <p:nvPr/>
        </p:nvCxnSpPr>
        <p:spPr>
          <a:xfrm>
            <a:off x="812800" y="3225800"/>
            <a:ext cx="10566400" cy="0"/>
          </a:xfrm>
          <a:prstGeom prst="line">
            <a:avLst/>
          </a:prstGeom>
          <a:ln w="9525">
            <a:solidFill>
              <a:srgbClr val="D9D1BF"/>
            </a:solidFill>
          </a:ln>
        </p:spPr>
      </p:cxnSp>
      <p:sp>
        <p:nvSpPr>
          <p:cNvPr id="10" name="R3 метка"/>
          <p:cNvSpPr txBox="1"/>
          <p:nvPr/>
        </p:nvSpPr>
        <p:spPr>
          <a:xfrm>
            <a:off x="812800" y="3333750"/>
            <a:ext cx="1143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0" i="0" dirty="0">
                <a:solidFill>
                  <a:srgbClr val="B3261E"/>
                </a:solidFill>
                <a:latin typeface="Courier New"/>
                <a:cs typeface="Courier New"/>
              </a:rPr>
              <a:t>R3</a:t>
            </a:r>
          </a:p>
        </p:txBody>
      </p:sp>
      <p:sp>
        <p:nvSpPr>
          <p:cNvPr id="11" name="R3 текст"/>
          <p:cNvSpPr txBox="1"/>
          <p:nvPr/>
        </p:nvSpPr>
        <p:spPr>
          <a:xfrm>
            <a:off x="2311400" y="3384550"/>
            <a:ext cx="90678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23201B"/>
                </a:solidFill>
                <a:latin typeface="Arial"/>
                <a:cs typeface="Arial"/>
              </a:rPr>
              <a:t>Слова свидетеля не спорят с установленным фактом.</a:t>
            </a:r>
          </a:p>
        </p:txBody>
      </p:sp>
      <p:sp>
        <p:nvSpPr>
          <p:cNvPr id="12" name="Примечание"/>
          <p:cNvSpPr txBox="1"/>
          <p:nvPr/>
        </p:nvSpPr>
        <p:spPr>
          <a:xfrm>
            <a:off x="812800" y="4286250"/>
            <a:ext cx="105664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6A6358"/>
                </a:solidFill>
                <a:latin typeface="Arial"/>
                <a:cs typeface="Arial"/>
              </a:rPr>
              <a:t>Если данных нет, ответ «неизвестно».</a:t>
            </a:r>
          </a:p>
        </p:txBody>
      </p:sp>
      <p:sp>
        <p:nvSpPr>
          <p:cNvPr id="13" name="Колонтитул"/>
          <p:cNvSpPr txBox="1"/>
          <p:nvPr/>
        </p:nvSpPr>
        <p:spPr>
          <a:xfrm>
            <a:off x="812800" y="62484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8 · Детективная доска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EFE9DC"/>
                </a:solidFill>
                <a:latin typeface="Georgia"/>
                <a:cs typeface="Georgia"/>
              </a:rPr>
              <a:t>Результат: ответ по тексту или отказ</a:t>
            </a:r>
          </a:p>
        </p:txBody>
      </p:sp>
      <p:sp>
        <p:nvSpPr>
          <p:cNvPr id="3" name="Маркер"/>
          <p:cNvSpPr/>
          <p:nvPr/>
        </p:nvSpPr>
        <p:spPr>
          <a:xfrm>
            <a:off x="0" y="812800"/>
            <a:ext cx="88900" cy="508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4" name="Число 1"/>
          <p:cNvSpPr txBox="1"/>
          <p:nvPr/>
        </p:nvSpPr>
        <p:spPr>
          <a:xfrm>
            <a:off x="812800" y="2063750"/>
            <a:ext cx="3556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EFE9DC"/>
                </a:solidFill>
                <a:latin typeface="Georgia"/>
                <a:cs typeface="Georgia"/>
              </a:rPr>
              <a:t>3 из 30</a:t>
            </a:r>
          </a:p>
        </p:txBody>
      </p:sp>
      <p:sp>
        <p:nvSpPr>
          <p:cNvPr id="5" name="Подпись 1"/>
          <p:cNvSpPr txBox="1"/>
          <p:nvPr/>
        </p:nvSpPr>
        <p:spPr>
          <a:xfrm>
            <a:off x="812800" y="2597150"/>
            <a:ext cx="355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A79F90"/>
                </a:solidFill>
                <a:latin typeface="Arial"/>
                <a:cs typeface="Arial"/>
              </a:rPr>
              <a:t>только модель</a:t>
            </a:r>
          </a:p>
        </p:txBody>
      </p:sp>
      <p:sp>
        <p:nvSpPr>
          <p:cNvPr id="6" name="Шкала"/>
          <p:cNvSpPr/>
          <p:nvPr/>
        </p:nvSpPr>
        <p:spPr>
          <a:xfrm>
            <a:off x="4673600" y="2222500"/>
            <a:ext cx="6705600" cy="457200"/>
          </a:xfrm>
          <a:prstGeom prst="roundRect">
            <a:avLst>
              <a:gd name="adj" fmla="val 11000"/>
            </a:avLst>
          </a:prstGeom>
          <a:solidFill>
            <a:srgbClr val="26231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7" name="Столбик"/>
          <p:cNvSpPr/>
          <p:nvPr/>
        </p:nvSpPr>
        <p:spPr>
          <a:xfrm>
            <a:off x="4673600" y="2222500"/>
            <a:ext cx="666750" cy="457200"/>
          </a:xfrm>
          <a:prstGeom prst="roundRect">
            <a:avLst>
              <a:gd name="adj" fmla="val 11000"/>
            </a:avLst>
          </a:prstGeom>
          <a:solidFill>
            <a:srgbClr val="7A736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8" name="Число 2"/>
          <p:cNvSpPr txBox="1"/>
          <p:nvPr/>
        </p:nvSpPr>
        <p:spPr>
          <a:xfrm>
            <a:off x="812800" y="3086100"/>
            <a:ext cx="3556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EFE9DC"/>
                </a:solidFill>
                <a:latin typeface="Georgia"/>
                <a:cs typeface="Georgia"/>
              </a:rPr>
              <a:t>11 из 30</a:t>
            </a:r>
          </a:p>
        </p:txBody>
      </p:sp>
      <p:sp>
        <p:nvSpPr>
          <p:cNvPr id="9" name="Подпись 2"/>
          <p:cNvSpPr txBox="1"/>
          <p:nvPr/>
        </p:nvSpPr>
        <p:spPr>
          <a:xfrm>
            <a:off x="812800" y="3619500"/>
            <a:ext cx="355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A79F90"/>
                </a:solidFill>
                <a:latin typeface="Arial"/>
                <a:cs typeface="Arial"/>
              </a:rPr>
              <a:t>только поиск по тексту</a:t>
            </a:r>
          </a:p>
        </p:txBody>
      </p:sp>
      <p:sp>
        <p:nvSpPr>
          <p:cNvPr id="10" name="Шкала"/>
          <p:cNvSpPr/>
          <p:nvPr/>
        </p:nvSpPr>
        <p:spPr>
          <a:xfrm>
            <a:off x="4673600" y="3244850"/>
            <a:ext cx="6705600" cy="457200"/>
          </a:xfrm>
          <a:prstGeom prst="roundRect">
            <a:avLst>
              <a:gd name="adj" fmla="val 11000"/>
            </a:avLst>
          </a:prstGeom>
          <a:solidFill>
            <a:srgbClr val="26231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1" name="Столбик"/>
          <p:cNvSpPr/>
          <p:nvPr/>
        </p:nvSpPr>
        <p:spPr>
          <a:xfrm>
            <a:off x="4673600" y="3244850"/>
            <a:ext cx="2457450" cy="457200"/>
          </a:xfrm>
          <a:prstGeom prst="roundRect">
            <a:avLst>
              <a:gd name="adj" fmla="val 11000"/>
            </a:avLst>
          </a:prstGeom>
          <a:solidFill>
            <a:srgbClr val="A79F9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2" name="Число 3"/>
          <p:cNvSpPr txBox="1"/>
          <p:nvPr/>
        </p:nvSpPr>
        <p:spPr>
          <a:xfrm>
            <a:off x="812800" y="4108450"/>
            <a:ext cx="3556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E0584F"/>
                </a:solidFill>
                <a:latin typeface="Georgia"/>
                <a:cs typeface="Georgia"/>
              </a:rPr>
              <a:t>13 из 30</a:t>
            </a:r>
          </a:p>
        </p:txBody>
      </p:sp>
      <p:sp>
        <p:nvSpPr>
          <p:cNvPr id="13" name="Подпись 3"/>
          <p:cNvSpPr txBox="1"/>
          <p:nvPr/>
        </p:nvSpPr>
        <p:spPr>
          <a:xfrm>
            <a:off x="812800" y="4641850"/>
            <a:ext cx="355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A79F90"/>
                </a:solidFill>
                <a:latin typeface="Arial"/>
                <a:cs typeface="Arial"/>
              </a:rPr>
              <a:t>агент (поиск + правила + отказ)</a:t>
            </a:r>
          </a:p>
        </p:txBody>
      </p:sp>
      <p:sp>
        <p:nvSpPr>
          <p:cNvPr id="14" name="Шкала"/>
          <p:cNvSpPr/>
          <p:nvPr/>
        </p:nvSpPr>
        <p:spPr>
          <a:xfrm>
            <a:off x="4673600" y="4267200"/>
            <a:ext cx="6705600" cy="457200"/>
          </a:xfrm>
          <a:prstGeom prst="roundRect">
            <a:avLst>
              <a:gd name="adj" fmla="val 11000"/>
            </a:avLst>
          </a:prstGeom>
          <a:solidFill>
            <a:srgbClr val="26231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5" name="Столбик"/>
          <p:cNvSpPr/>
          <p:nvPr/>
        </p:nvSpPr>
        <p:spPr>
          <a:xfrm>
            <a:off x="4673600" y="4267200"/>
            <a:ext cx="2901950" cy="457200"/>
          </a:xfrm>
          <a:prstGeom prst="roundRect">
            <a:avLst>
              <a:gd name="adj" fmla="val 11000"/>
            </a:avLst>
          </a:prstGeom>
          <a:solidFill>
            <a:srgbClr val="E058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16" name="Примечание"/>
          <p:cNvSpPr txBox="1"/>
          <p:nvPr/>
        </p:nvSpPr>
        <p:spPr>
          <a:xfrm>
            <a:off x="812800" y="56261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A79F90"/>
                </a:solidFill>
                <a:latin typeface="Arial"/>
                <a:cs typeface="Arial"/>
              </a:rPr>
              <a:t>Шкала: 30 вопросов теста. Метки ответов человек не проверял. От простого поиска агент значимо не отличается.</a:t>
            </a:r>
          </a:p>
        </p:txBody>
      </p:sp>
      <p:sp>
        <p:nvSpPr>
          <p:cNvPr id="17" name="Колонтитул"/>
          <p:cNvSpPr txBox="1"/>
          <p:nvPr/>
        </p:nvSpPr>
        <p:spPr>
          <a:xfrm>
            <a:off x="812800" y="62484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A79F90"/>
                </a:solidFill>
                <a:latin typeface="Courier New"/>
                <a:cs typeface="Courier New"/>
              </a:rPr>
              <a:t>9 · Детективная доска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23201B"/>
                </a:solidFill>
                <a:latin typeface="Georgia"/>
                <a:cs typeface="Georgia"/>
              </a:rPr>
              <a:t>Что пока не работает</a:t>
            </a:r>
          </a:p>
        </p:txBody>
      </p:sp>
      <p:sp>
        <p:nvSpPr>
          <p:cNvPr id="3" name="Маркер"/>
          <p:cNvSpPr/>
          <p:nvPr/>
        </p:nvSpPr>
        <p:spPr>
          <a:xfrm>
            <a:off x="0" y="812800"/>
            <a:ext cx="88900" cy="508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4" name="Показатель 1"/>
          <p:cNvSpPr/>
          <p:nvPr/>
        </p:nvSpPr>
        <p:spPr>
          <a:xfrm>
            <a:off x="812800" y="1619250"/>
            <a:ext cx="5181600" cy="1562100"/>
          </a:xfrm>
          <a:prstGeom prst="roundRect">
            <a:avLst>
              <a:gd name="adj" fmla="val 3500"/>
            </a:avLst>
          </a:prstGeom>
          <a:solidFill>
            <a:srgbClr val="FBF8F0"/>
          </a:solidFill>
          <a:ln w="9525">
            <a:solidFill>
              <a:srgbClr val="D9D1BF"/>
            </a:solidFill>
          </a:ln>
        </p:spPr>
        <p:txBody>
          <a:bodyPr wrap="square" lIns="254000" tIns="203200" rIns="254000" bIns="203200" anchor="t">
            <a:noAutofit/>
          </a:bodyPr>
          <a:lstStyle/>
          <a:p>
            <a:pPr algn="l" marL="0" indent="0">
              <a:lnSpc>
                <a:spcPct val="83333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4800" b="1" i="0" dirty="0">
                <a:solidFill>
                  <a:srgbClr val="B3261E"/>
                </a:solidFill>
                <a:latin typeface="Georgia"/>
                <a:cs typeface="Georgia"/>
              </a:rPr>
              <a:t>0 из 12</a:t>
            </a:r>
          </a:p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23201B"/>
                </a:solidFill>
                <a:latin typeface="Arial"/>
                <a:cs typeface="Arial"/>
              </a:rPr>
              <a:t>противоречий нашли правила на автоматическом графе</a:t>
            </a:r>
          </a:p>
        </p:txBody>
      </p:sp>
      <p:sp>
        <p:nvSpPr>
          <p:cNvPr id="5" name="Показатель 2"/>
          <p:cNvSpPr/>
          <p:nvPr/>
        </p:nvSpPr>
        <p:spPr>
          <a:xfrm>
            <a:off x="6197600" y="1619250"/>
            <a:ext cx="5181600" cy="1562100"/>
          </a:xfrm>
          <a:prstGeom prst="roundRect">
            <a:avLst>
              <a:gd name="adj" fmla="val 3500"/>
            </a:avLst>
          </a:prstGeom>
          <a:solidFill>
            <a:srgbClr val="FBF8F0"/>
          </a:solidFill>
          <a:ln w="9525">
            <a:solidFill>
              <a:srgbClr val="D9D1BF"/>
            </a:solidFill>
          </a:ln>
        </p:spPr>
        <p:txBody>
          <a:bodyPr wrap="square" lIns="254000" tIns="203200" rIns="254000" bIns="203200" anchor="t">
            <a:noAutofit/>
          </a:bodyPr>
          <a:lstStyle/>
          <a:p>
            <a:pPr algn="l" marL="0" indent="0">
              <a:lnSpc>
                <a:spcPct val="83333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4800" b="1" i="0" dirty="0">
                <a:solidFill>
                  <a:srgbClr val="B3261E"/>
                </a:solidFill>
                <a:latin typeface="Georgia"/>
                <a:cs typeface="Georgia"/>
              </a:rPr>
              <a:t>16 и 7</a:t>
            </a:r>
          </a:p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23201B"/>
                </a:solidFill>
                <a:latin typeface="Arial"/>
                <a:cs typeface="Arial"/>
              </a:rPr>
              <a:t>фактов «кто где был» осталось на 159 фрагментах (две модели)</a:t>
            </a:r>
          </a:p>
        </p:txBody>
      </p:sp>
      <p:sp>
        <p:nvSpPr>
          <p:cNvPr id="6" name="Показатель 3"/>
          <p:cNvSpPr/>
          <p:nvPr/>
        </p:nvSpPr>
        <p:spPr>
          <a:xfrm>
            <a:off x="812800" y="3384550"/>
            <a:ext cx="5181600" cy="1562100"/>
          </a:xfrm>
          <a:prstGeom prst="roundRect">
            <a:avLst>
              <a:gd name="adj" fmla="val 3500"/>
            </a:avLst>
          </a:prstGeom>
          <a:solidFill>
            <a:srgbClr val="FBF8F0"/>
          </a:solidFill>
          <a:ln w="9525">
            <a:solidFill>
              <a:srgbClr val="D9D1BF"/>
            </a:solidFill>
          </a:ln>
        </p:spPr>
        <p:txBody>
          <a:bodyPr wrap="square" lIns="254000" tIns="203200" rIns="254000" bIns="203200" anchor="t">
            <a:noAutofit/>
          </a:bodyPr>
          <a:lstStyle/>
          <a:p>
            <a:pPr algn="l" marL="0" indent="0">
              <a:lnSpc>
                <a:spcPct val="83333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4800" b="1" i="0" dirty="0">
                <a:solidFill>
                  <a:srgbClr val="B3261E"/>
                </a:solidFill>
                <a:latin typeface="Georgia"/>
                <a:cs typeface="Georgia"/>
              </a:rPr>
              <a:t>0</a:t>
            </a:r>
          </a:p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23201B"/>
                </a:solidFill>
                <a:latin typeface="Arial"/>
                <a:cs typeface="Arial"/>
              </a:rPr>
              <a:t>из них привязаны ко дню рассказа</a:t>
            </a:r>
          </a:p>
        </p:txBody>
      </p:sp>
      <p:sp>
        <p:nvSpPr>
          <p:cNvPr id="7" name="Показатель 4"/>
          <p:cNvSpPr/>
          <p:nvPr/>
        </p:nvSpPr>
        <p:spPr>
          <a:xfrm>
            <a:off x="6197600" y="3384550"/>
            <a:ext cx="5181600" cy="1562100"/>
          </a:xfrm>
          <a:prstGeom prst="roundRect">
            <a:avLst>
              <a:gd name="adj" fmla="val 3500"/>
            </a:avLst>
          </a:prstGeom>
          <a:solidFill>
            <a:srgbClr val="FBF8F0"/>
          </a:solidFill>
          <a:ln w="9525">
            <a:solidFill>
              <a:srgbClr val="D9D1BF"/>
            </a:solidFill>
          </a:ln>
        </p:spPr>
        <p:txBody>
          <a:bodyPr wrap="square" lIns="254000" tIns="203200" rIns="254000" bIns="203200" anchor="t">
            <a:noAutofit/>
          </a:bodyPr>
          <a:lstStyle/>
          <a:p>
            <a:pPr algn="l" marL="0" indent="0">
              <a:lnSpc>
                <a:spcPct val="83333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4800" b="1" i="0" dirty="0">
                <a:solidFill>
                  <a:srgbClr val="B3261E"/>
                </a:solidFill>
                <a:latin typeface="Georgia"/>
                <a:cs typeface="Georgia"/>
              </a:rPr>
              <a:t>4</a:t>
            </a:r>
          </a:p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23201B"/>
                </a:solidFill>
                <a:latin typeface="Arial"/>
                <a:cs typeface="Arial"/>
              </a:rPr>
              <a:t>строгих факта в эталоне для проверки</a:t>
            </a:r>
          </a:p>
        </p:txBody>
      </p:sp>
      <p:sp>
        <p:nvSpPr>
          <p:cNvPr id="8" name="Колонтитул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10 · Источник: отчёт о проходе присутствия (PR #29, влит)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23201B"/>
                </a:solidFill>
                <a:latin typeface="Georgia"/>
                <a:cs typeface="Georgia"/>
              </a:rPr>
              <a:t>Скорость, интерфейс, тесты</a:t>
            </a:r>
          </a:p>
        </p:txBody>
      </p:sp>
      <p:sp>
        <p:nvSpPr>
          <p:cNvPr id="3" name="Маркер"/>
          <p:cNvSpPr/>
          <p:nvPr/>
        </p:nvSpPr>
        <p:spPr>
          <a:xfrm>
            <a:off x="0" y="812800"/>
            <a:ext cx="88900" cy="508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4" name="Подпись таблицы"/>
          <p:cNvSpPr txBox="1"/>
          <p:nvPr/>
        </p:nvSpPr>
        <p:spPr>
          <a:xfrm>
            <a:off x="812800" y="156845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spc="100" dirty="0">
                <a:solidFill>
                  <a:srgbClr val="6A6358"/>
                </a:solidFill>
                <a:latin typeface="Courier New"/>
                <a:cs typeface="Courier New"/>
              </a:rPr>
              <a:t>ДОСКА: ВРЕМЯ РАСТЕРИЗАЦИИ, МС</a:t>
            </a:r>
          </a:p>
        </p:txBody>
      </p:sp>
      <p:graphicFrame>
        <p:nvGraphicFramePr>
          <p:cNvPr id="5" name="Таблица"/>
          <p:cNvGraphicFramePr>
            <a:graphicFrameLocks noGrp="1"/>
          </p:cNvGraphicFramePr>
          <p:nvPr/>
        </p:nvGraphicFramePr>
        <p:xfrm>
          <a:off x="812800" y="1898650"/>
          <a:ext cx="6350000" cy="2095500"/>
        </p:xfrm>
        <a:graphic>
          <a:graphicData uri="http://schemas.openxmlformats.org/drawingml/2006/table">
            <a:tbl>
              <a:tblPr firstRow="1"/>
              <a:tblGrid>
                <a:gridCol w="2286000"/>
                <a:gridCol w="1524000"/>
                <a:gridCol w="1270000"/>
                <a:gridCol w="1270000"/>
              </a:tblGrid>
              <a:tr h="4191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dirty="0">
                          <a:solidFill>
                            <a:srgbClr val="6A6358"/>
                          </a:solidFill>
                          <a:latin typeface="Arial"/>
                          <a:cs typeface="Arial"/>
                        </a:rPr>
                        <a:t>Доска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6A635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dirty="0">
                          <a:solidFill>
                            <a:srgbClr val="6A6358"/>
                          </a:solidFill>
                          <a:latin typeface="Arial"/>
                          <a:cs typeface="Arial"/>
                        </a:rPr>
                        <a:t>Действие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6A635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dirty="0">
                          <a:solidFill>
                            <a:srgbClr val="6A6358"/>
                          </a:solidFill>
                          <a:latin typeface="Arial"/>
                          <a:cs typeface="Arial"/>
                        </a:rPr>
                        <a:t>Было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6A635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dirty="0">
                          <a:solidFill>
                            <a:srgbClr val="6A6358"/>
                          </a:solidFill>
                          <a:latin typeface="Arial"/>
                          <a:cs typeface="Arial"/>
                        </a:rPr>
                        <a:t>Стало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6A6358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14 карточек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сдвиг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2 400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225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14 карточек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масштаб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2 100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315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200 узлов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сдвиг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2 060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384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200 узлов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масштаб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13 900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dirty="0">
                          <a:solidFill>
                            <a:srgbClr val="23201B"/>
                          </a:solidFill>
                          <a:latin typeface="Arial"/>
                          <a:cs typeface="Arial"/>
                        </a:rPr>
                        <a:t>2 780</a:t>
                      </a:r>
                    </a:p>
                  </a:txBody>
                  <a:tcPr marL="50800" marR="50800" marT="63500" marB="635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1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Тесты"/>
          <p:cNvSpPr txBox="1"/>
          <p:nvPr/>
        </p:nvSpPr>
        <p:spPr>
          <a:xfrm>
            <a:off x="7670800" y="1568450"/>
            <a:ext cx="37084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83333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4800" b="1" i="0" dirty="0">
                <a:solidFill>
                  <a:srgbClr val="B3261E"/>
                </a:solidFill>
                <a:latin typeface="Georgia"/>
                <a:cs typeface="Georgia"/>
              </a:rPr>
              <a:t>986</a:t>
            </a:r>
          </a:p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23201B"/>
                </a:solidFill>
                <a:latin typeface="Arial"/>
                <a:cs typeface="Arial"/>
              </a:rPr>
              <a:t>автотестов прошли за 9,6 с</a:t>
            </a:r>
          </a:p>
        </p:txBody>
      </p:sp>
      <p:sp>
        <p:nvSpPr>
          <p:cNvPr id="7" name="Скорость"/>
          <p:cNvSpPr txBox="1"/>
          <p:nvPr/>
        </p:nvSpPr>
        <p:spPr>
          <a:xfrm>
            <a:off x="7670800" y="2921000"/>
            <a:ext cx="37084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83333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4800" b="1" i="0" dirty="0">
                <a:solidFill>
                  <a:srgbClr val="B3261E"/>
                </a:solidFill>
                <a:latin typeface="Georgia"/>
                <a:cs typeface="Georgia"/>
              </a:rPr>
              <a:t>28,4 с</a:t>
            </a:r>
          </a:p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23201B"/>
                </a:solidFill>
                <a:latin typeface="Arial"/>
                <a:cs typeface="Arial"/>
              </a:rPr>
              <a:t>медиана ответа на ноутбуке без GPU (замер не в чистом окне)</a:t>
            </a:r>
          </a:p>
        </p:txBody>
      </p:sp>
      <p:sp>
        <p:nvSpPr>
          <p:cNvPr id="8" name="Примечание"/>
          <p:cNvSpPr txBox="1"/>
          <p:nvPr/>
        </p:nvSpPr>
        <p:spPr>
          <a:xfrm>
            <a:off x="812800" y="48260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Arial"/>
                <a:cs typeface="Arial"/>
              </a:rPr>
              <a:t>PR #30 (влит): headless Chromium, скриптовые сдвиг и масштаб. Шум на масштабе большой; на целевом ноутбуке не измерено. В покое картинка прежняя (отличие 1,5 из 255).</a:t>
            </a:r>
          </a:p>
        </p:txBody>
      </p:sp>
      <p:sp>
        <p:nvSpPr>
          <p:cNvPr id="9" name="Колонтитул"/>
          <p:cNvSpPr txBox="1"/>
          <p:nvPr/>
        </p:nvSpPr>
        <p:spPr>
          <a:xfrm>
            <a:off x="812800" y="62484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11 · Детективная доска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EFE9DC"/>
                </a:solidFill>
                <a:latin typeface="Georgia"/>
                <a:cs typeface="Georgia"/>
              </a:rPr>
              <a:t>Угадывание виновного: ненадёжно</a:t>
            </a:r>
          </a:p>
        </p:txBody>
      </p:sp>
      <p:sp>
        <p:nvSpPr>
          <p:cNvPr id="3" name="Маркер"/>
          <p:cNvSpPr/>
          <p:nvPr/>
        </p:nvSpPr>
        <p:spPr>
          <a:xfrm>
            <a:off x="0" y="812800"/>
            <a:ext cx="88900" cy="508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4" name="Число"/>
          <p:cNvSpPr txBox="1"/>
          <p:nvPr/>
        </p:nvSpPr>
        <p:spPr>
          <a:xfrm>
            <a:off x="812800" y="1714500"/>
            <a:ext cx="4064000" cy="1206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83333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8000" b="1" i="0" dirty="0">
                <a:solidFill>
                  <a:srgbClr val="E0584F"/>
                </a:solidFill>
                <a:latin typeface="Georgia"/>
                <a:cs typeface="Georgia"/>
              </a:rPr>
              <a:t>2 из 6</a:t>
            </a:r>
          </a:p>
        </p:txBody>
      </p:sp>
      <p:sp>
        <p:nvSpPr>
          <p:cNvPr id="5" name="Подпись числа"/>
          <p:cNvSpPr txBox="1"/>
          <p:nvPr/>
        </p:nvSpPr>
        <p:spPr>
          <a:xfrm>
            <a:off x="812800" y="2857500"/>
            <a:ext cx="40640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C9C1B0"/>
                </a:solidFill>
                <a:latin typeface="Arial"/>
                <a:cs typeface="Arial"/>
              </a:rPr>
              <a:t>виновный назван первым на 6 новых рассказах; столько же у «самого упоминаемого»</a:t>
            </a:r>
          </a:p>
        </p:txBody>
      </p:sp>
      <p:sp>
        <p:nvSpPr>
          <p:cNvPr id="6" name="Факты"/>
          <p:cNvSpPr txBox="1"/>
          <p:nvPr/>
        </p:nvSpPr>
        <p:spPr>
          <a:xfrm>
            <a:off x="5486400" y="1714500"/>
            <a:ext cx="5892800" cy="20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ru-RU" sz="1600" b="0" i="0" dirty="0">
                <a:solidFill>
                  <a:srgbClr val="EFE9DC"/>
                </a:solidFill>
                <a:latin typeface="Arial"/>
                <a:cs typeface="Arial"/>
              </a:rPr>
              <a:t>Тест (8 рассказов, один прогон): ни один метод не лучше простых.</a:t>
            </a:r>
          </a:p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ru-RU" sz="1600" b="0" i="0" dirty="0">
                <a:solidFill>
                  <a:srgbClr val="EFE9DC"/>
                </a:solidFill>
                <a:latin typeface="Arial"/>
                <a:cs typeface="Arial"/>
              </a:rPr>
              <a:t>Dev (8): лучший из ~35 вариантов угадал 4 из 8. Цифра завышена.</a:t>
            </a:r>
          </a:p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EFE9DC"/>
                </a:solidFill>
                <a:latin typeface="Arial"/>
                <a:cs typeface="Arial"/>
              </a:rPr>
              <a:t>Интервал 0,10–0,70; один оправданный назван первым.</a:t>
            </a:r>
          </a:p>
        </p:txBody>
      </p:sp>
      <p:sp>
        <p:nvSpPr>
          <p:cNvPr id="7" name="Вывод"/>
          <p:cNvSpPr txBox="1"/>
          <p:nvPr/>
        </p:nvSpPr>
        <p:spPr>
          <a:xfrm>
            <a:off x="812800" y="4127500"/>
            <a:ext cx="10566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dirty="0">
                <a:solidFill>
                  <a:srgbClr val="E0584F"/>
                </a:solidFill>
                <a:latin typeface="Arial"/>
                <a:cs typeface="Arial"/>
              </a:rPr>
              <a:t>Невиновных не обвиняет, но ценой частых отказов.</a:t>
            </a:r>
          </a:p>
        </p:txBody>
      </p:sp>
      <p:sp>
        <p:nvSpPr>
          <p:cNvPr id="8" name="Оговорка"/>
          <p:cNvSpPr txBox="1"/>
          <p:nvPr/>
        </p:nvSpPr>
        <p:spPr>
          <a:xfrm>
            <a:off x="812800" y="473075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A79F90"/>
                </a:solidFill>
                <a:latin typeface="Arial"/>
                <a:cs typeface="Arial"/>
              </a:rPr>
              <a:t>Метки виновного не проверены человеком. Ветка feat/suspects-matrix, в main её нет.</a:t>
            </a:r>
          </a:p>
        </p:txBody>
      </p:sp>
      <p:sp>
        <p:nvSpPr>
          <p:cNvPr id="9" name="Колонтитул"/>
          <p:cNvSpPr txBox="1"/>
          <p:nvPr/>
        </p:nvSpPr>
        <p:spPr>
          <a:xfrm>
            <a:off x="812800" y="62484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A79F90"/>
                </a:solidFill>
                <a:latin typeface="Courier New"/>
                <a:cs typeface="Courier New"/>
              </a:rPr>
              <a:t>12 · Детективная доска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23201B"/>
                </a:solidFill>
                <a:latin typeface="Georgia"/>
                <a:cs typeface="Georgia"/>
              </a:rPr>
              <a:t>Выводы</a:t>
            </a:r>
          </a:p>
        </p:txBody>
      </p:sp>
      <p:sp>
        <p:nvSpPr>
          <p:cNvPr id="3" name="Маркер"/>
          <p:cNvSpPr/>
          <p:nvPr/>
        </p:nvSpPr>
        <p:spPr>
          <a:xfrm>
            <a:off x="0" y="812800"/>
            <a:ext cx="88900" cy="508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4" name="Вывод 1 номер"/>
          <p:cNvSpPr txBox="1"/>
          <p:nvPr/>
        </p:nvSpPr>
        <p:spPr>
          <a:xfrm>
            <a:off x="812800" y="160655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B3261E"/>
                </a:solidFill>
                <a:latin typeface="Courier New"/>
                <a:cs typeface="Courier New"/>
              </a:rPr>
              <a:t>01</a:t>
            </a:r>
          </a:p>
        </p:txBody>
      </p:sp>
      <p:sp>
        <p:nvSpPr>
          <p:cNvPr id="5" name="Вывод 1"/>
          <p:cNvSpPr txBox="1"/>
          <p:nvPr/>
        </p:nvSpPr>
        <p:spPr>
          <a:xfrm>
            <a:off x="1727200" y="1568450"/>
            <a:ext cx="9652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23201B"/>
                </a:solidFill>
                <a:latin typeface="Arial"/>
                <a:cs typeface="Arial"/>
              </a:rPr>
              <a:t>Система отвечает цитатами и отказывается, когда ответа в тексте нет.</a:t>
            </a:r>
          </a:p>
        </p:txBody>
      </p:sp>
      <p:cxnSp>
        <p:nvCxnSpPr>
          <p:cNvPr id="6" name="Разделитель"/>
          <p:cNvCxnSpPr/>
          <p:nvPr/>
        </p:nvCxnSpPr>
        <p:spPr>
          <a:xfrm>
            <a:off x="812800" y="2470150"/>
            <a:ext cx="10566400" cy="0"/>
          </a:xfrm>
          <a:prstGeom prst="line">
            <a:avLst/>
          </a:prstGeom>
          <a:ln w="9525">
            <a:solidFill>
              <a:srgbClr val="D9D1BF"/>
            </a:solidFill>
          </a:ln>
        </p:spPr>
      </p:cxnSp>
      <p:sp>
        <p:nvSpPr>
          <p:cNvPr id="7" name="Вывод 2 номер"/>
          <p:cNvSpPr txBox="1"/>
          <p:nvPr/>
        </p:nvSpPr>
        <p:spPr>
          <a:xfrm>
            <a:off x="812800" y="267335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B3261E"/>
                </a:solidFill>
                <a:latin typeface="Courier New"/>
                <a:cs typeface="Courier New"/>
              </a:rPr>
              <a:t>02</a:t>
            </a:r>
          </a:p>
        </p:txBody>
      </p:sp>
      <p:sp>
        <p:nvSpPr>
          <p:cNvPr id="8" name="Вывод 2"/>
          <p:cNvSpPr txBox="1"/>
          <p:nvPr/>
        </p:nvSpPr>
        <p:spPr>
          <a:xfrm>
            <a:off x="1727200" y="2635250"/>
            <a:ext cx="9652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23201B"/>
                </a:solidFill>
                <a:latin typeface="Arial"/>
                <a:cs typeface="Arial"/>
              </a:rPr>
              <a:t>Агент немного лучше голой модели; от простого поиска значимо не отличается.</a:t>
            </a:r>
          </a:p>
        </p:txBody>
      </p:sp>
      <p:cxnSp>
        <p:nvCxnSpPr>
          <p:cNvPr id="9" name="Разделитель"/>
          <p:cNvCxnSpPr/>
          <p:nvPr/>
        </p:nvCxnSpPr>
        <p:spPr>
          <a:xfrm>
            <a:off x="812800" y="3536950"/>
            <a:ext cx="10566400" cy="0"/>
          </a:xfrm>
          <a:prstGeom prst="line">
            <a:avLst/>
          </a:prstGeom>
          <a:ln w="9525">
            <a:solidFill>
              <a:srgbClr val="D9D1BF"/>
            </a:solidFill>
          </a:ln>
        </p:spPr>
      </p:cxnSp>
      <p:sp>
        <p:nvSpPr>
          <p:cNvPr id="10" name="Вывод 3 номер"/>
          <p:cNvSpPr txBox="1"/>
          <p:nvPr/>
        </p:nvSpPr>
        <p:spPr>
          <a:xfrm>
            <a:off x="812800" y="374015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B3261E"/>
                </a:solidFill>
                <a:latin typeface="Courier New"/>
                <a:cs typeface="Courier New"/>
              </a:rPr>
              <a:t>03</a:t>
            </a:r>
          </a:p>
        </p:txBody>
      </p:sp>
      <p:sp>
        <p:nvSpPr>
          <p:cNvPr id="11" name="Вывод 3"/>
          <p:cNvSpPr txBox="1"/>
          <p:nvPr/>
        </p:nvSpPr>
        <p:spPr>
          <a:xfrm>
            <a:off x="1727200" y="3702050"/>
            <a:ext cx="9652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23201B"/>
                </a:solidFill>
                <a:latin typeface="Arial"/>
                <a:cs typeface="Arial"/>
              </a:rPr>
              <a:t>Правила точны, но автоматическому графу не хватает фактов.</a:t>
            </a:r>
          </a:p>
        </p:txBody>
      </p:sp>
      <p:cxnSp>
        <p:nvCxnSpPr>
          <p:cNvPr id="12" name="Разделитель"/>
          <p:cNvCxnSpPr/>
          <p:nvPr/>
        </p:nvCxnSpPr>
        <p:spPr>
          <a:xfrm>
            <a:off x="812800" y="4603750"/>
            <a:ext cx="10566400" cy="0"/>
          </a:xfrm>
          <a:prstGeom prst="line">
            <a:avLst/>
          </a:prstGeom>
          <a:ln w="9525">
            <a:solidFill>
              <a:srgbClr val="D9D1BF"/>
            </a:solidFill>
          </a:ln>
        </p:spPr>
      </p:cxnSp>
      <p:sp>
        <p:nvSpPr>
          <p:cNvPr id="13" name="Вывод 4 номер"/>
          <p:cNvSpPr txBox="1"/>
          <p:nvPr/>
        </p:nvSpPr>
        <p:spPr>
          <a:xfrm>
            <a:off x="812800" y="480695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B3261E"/>
                </a:solidFill>
                <a:latin typeface="Courier New"/>
                <a:cs typeface="Courier New"/>
              </a:rPr>
              <a:t>04</a:t>
            </a:r>
          </a:p>
        </p:txBody>
      </p:sp>
      <p:sp>
        <p:nvSpPr>
          <p:cNvPr id="14" name="Вывод 4"/>
          <p:cNvSpPr txBox="1"/>
          <p:nvPr/>
        </p:nvSpPr>
        <p:spPr>
          <a:xfrm>
            <a:off x="1727200" y="4768850"/>
            <a:ext cx="9652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23201B"/>
                </a:solidFill>
                <a:latin typeface="Arial"/>
                <a:cs typeface="Arial"/>
              </a:rPr>
              <a:t>Дальше: проверка наборов человеком, установка на двух ноутбуках.</a:t>
            </a:r>
          </a:p>
        </p:txBody>
      </p:sp>
      <p:sp>
        <p:nvSpPr>
          <p:cNvPr id="15" name="Колонтитул"/>
          <p:cNvSpPr txBox="1"/>
          <p:nvPr/>
        </p:nvSpPr>
        <p:spPr>
          <a:xfrm>
            <a:off x="812800" y="62484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6A6358"/>
                </a:solidFill>
                <a:latin typeface="Courier New"/>
                <a:cs typeface="Courier New"/>
              </a:rPr>
              <a:t>13 · Детективная доска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dirty="0">
                <a:solidFill>
                  <a:srgbClr val="EFE9DC"/>
                </a:solidFill>
                <a:latin typeface="Georgia"/>
                <a:cs typeface="Georgia"/>
              </a:rPr>
              <a:t>Источники</a:t>
            </a:r>
          </a:p>
        </p:txBody>
      </p:sp>
      <p:sp>
        <p:nvSpPr>
          <p:cNvPr id="3" name="Маркер"/>
          <p:cNvSpPr/>
          <p:nvPr/>
        </p:nvSpPr>
        <p:spPr>
          <a:xfrm>
            <a:off x="0" y="812800"/>
            <a:ext cx="88900" cy="508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/>
          </a:p>
        </p:txBody>
      </p:sp>
      <p:sp>
        <p:nvSpPr>
          <p:cNvPr id="4" name="Источник 1"/>
          <p:cNvSpPr txBox="1"/>
          <p:nvPr/>
        </p:nvSpPr>
        <p:spPr>
          <a:xfrm>
            <a:off x="812800" y="1619250"/>
            <a:ext cx="10566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EFE9DC"/>
                </a:solidFill>
                <a:latin typeface="Courier New"/>
                <a:cs typeface="Courier New"/>
              </a:rPr>
              <a:t>docs/spike/results/eval-2026-10-28-test-7b7b197-7857839ed9be-175321.md</a:t>
            </a:r>
          </a:p>
        </p:txBody>
      </p:sp>
      <p:sp>
        <p:nvSpPr>
          <p:cNvPr id="5" name="Источник 2"/>
          <p:cNvSpPr txBox="1"/>
          <p:nvPr/>
        </p:nvSpPr>
        <p:spPr>
          <a:xfrm>
            <a:off x="812800" y="2044700"/>
            <a:ext cx="10566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EFE9DC"/>
                </a:solidFill>
                <a:latin typeface="Courier New"/>
                <a:cs typeface="Courier New"/>
              </a:rPr>
              <a:t>docs/spike/results/presence-pass-server-20261029.md</a:t>
            </a:r>
          </a:p>
        </p:txBody>
      </p:sp>
      <p:sp>
        <p:nvSpPr>
          <p:cNvPr id="6" name="Источник 3"/>
          <p:cNvSpPr txBox="1"/>
          <p:nvPr/>
        </p:nvSpPr>
        <p:spPr>
          <a:xfrm>
            <a:off x="812800" y="2470150"/>
            <a:ext cx="10566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EFE9DC"/>
                </a:solidFill>
                <a:latin typeface="Courier New"/>
                <a:cs typeface="Courier New"/>
              </a:rPr>
              <a:t>docs/perf/laptop-20261029.md</a:t>
            </a:r>
          </a:p>
        </p:txBody>
      </p:sp>
      <p:sp>
        <p:nvSpPr>
          <p:cNvPr id="7" name="Источник 4"/>
          <p:cNvSpPr txBox="1"/>
          <p:nvPr/>
        </p:nvSpPr>
        <p:spPr>
          <a:xfrm>
            <a:off x="812800" y="2895600"/>
            <a:ext cx="10566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EFE9DC"/>
                </a:solidFill>
                <a:latin typeface="Courier New"/>
                <a:cs typeface="Courier New"/>
              </a:rPr>
              <a:t>suspects-20261030.md (ветка feat/suspects-matrix)</a:t>
            </a:r>
          </a:p>
        </p:txBody>
      </p:sp>
      <p:sp>
        <p:nvSpPr>
          <p:cNvPr id="8" name="Источник 5"/>
          <p:cNvSpPr txBox="1"/>
          <p:nvPr/>
        </p:nvSpPr>
        <p:spPr>
          <a:xfrm>
            <a:off x="812800" y="3321050"/>
            <a:ext cx="10566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EFE9DC"/>
                </a:solidFill>
                <a:latin typeface="Courier New"/>
                <a:cs typeface="Courier New"/>
              </a:rPr>
              <a:t>Pull request #30 на GitHub: описание измерений</a:t>
            </a:r>
          </a:p>
        </p:txBody>
      </p:sp>
      <p:sp>
        <p:nvSpPr>
          <p:cNvPr id="9" name="Авторы"/>
          <p:cNvSpPr txBox="1"/>
          <p:nvPr/>
        </p:nvSpPr>
        <p:spPr>
          <a:xfrm>
            <a:off x="812800" y="5524500"/>
            <a:ext cx="105664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C9C1B0"/>
                </a:solidFill>
                <a:latin typeface="Arial"/>
                <a:cs typeface="Arial"/>
              </a:rPr>
              <a:t>Верховых Егор · Стрижевский Андрей · Парамонов Даниил · Приц Артём</a:t>
            </a:r>
          </a:p>
        </p:txBody>
      </p:sp>
      <p:sp>
        <p:nvSpPr>
          <p:cNvPr id="10" name="Колонтитул"/>
          <p:cNvSpPr txBox="1"/>
          <p:nvPr/>
        </p:nvSpPr>
        <p:spPr>
          <a:xfrm>
            <a:off x="812800" y="62484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A79F90"/>
                </a:solidFill>
                <a:latin typeface="Courier New"/>
                <a:cs typeface="Courier New"/>
              </a:rPr>
              <a:t>14 · Детективная доска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tective Board Design">
  <a:themeElements>
    <a:clrScheme name="DBD">
      <a:dk1>
        <a:srgbClr val="1B1916"/>
      </a:dk1>
      <a:lt1>
        <a:srgbClr val="FFFFFF"/>
      </a:lt1>
      <a:dk2>
        <a:srgbClr val="23201B"/>
      </a:dk2>
      <a:lt2>
        <a:srgbClr val="F2EDE2"/>
      </a:lt2>
      <a:accent1>
        <a:srgbClr val="B3261E"/>
      </a:accent1>
      <a:accent2>
        <a:srgbClr val="E0584F"/>
      </a:accent2>
      <a:accent3>
        <a:srgbClr val="6A6358"/>
      </a:accent3>
      <a:accent4>
        <a:srgbClr val="A79F90"/>
      </a:accent4>
      <a:accent5>
        <a:srgbClr val="B07A1A"/>
      </a:accent5>
      <a:accent6>
        <a:srgbClr val="8A8273"/>
      </a:accent6>
      <a:hlink>
        <a:srgbClr val="B3261E"/>
      </a:hlink>
      <a:folHlink>
        <a:srgbClr val="6A6358"/>
      </a:folHlink>
    </a:clrScheme>
    <a:fontScheme name="DBD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DB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Detective Board Design">
  <a:themeElements>
    <a:clrScheme name="DBD">
      <a:dk1>
        <a:srgbClr val="1B1916"/>
      </a:dk1>
      <a:lt1>
        <a:srgbClr val="FFFFFF"/>
      </a:lt1>
      <a:dk2>
        <a:srgbClr val="23201B"/>
      </a:dk2>
      <a:lt2>
        <a:srgbClr val="F2EDE2"/>
      </a:lt2>
      <a:accent1>
        <a:srgbClr val="B3261E"/>
      </a:accent1>
      <a:accent2>
        <a:srgbClr val="E0584F"/>
      </a:accent2>
      <a:accent3>
        <a:srgbClr val="6A6358"/>
      </a:accent3>
      <a:accent4>
        <a:srgbClr val="A79F90"/>
      </a:accent4>
      <a:accent5>
        <a:srgbClr val="B07A1A"/>
      </a:accent5>
      <a:accent6>
        <a:srgbClr val="8A8273"/>
      </a:accent6>
      <a:hlink>
        <a:srgbClr val="B3261E"/>
      </a:hlink>
      <a:folHlink>
        <a:srgbClr val="6A6358"/>
      </a:folHlink>
    </a:clrScheme>
    <a:fontScheme name="DBD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DB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Детективная доска</dc:title>
  <dc:creator>Верховых Егор, Стрижевский Андрей, Парамонов Даниил, Приц Артём</dc:creator>
  <dc:language>ru-RU</dc:language>
  <dcterms:created xsi:type="dcterms:W3CDTF">2026-10-30T00:00:00Z</dcterms:created>
</cp:coreProperties>
</file>